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1388929"/>
            <a:ext cx="6429375" cy="11315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4500"/>
              </a:lnSpc>
              <a:buNone/>
            </a:pPr>
            <a:r>
              <a:rPr lang="en-US" sz="3731" b="1" spc="-1" kern="0" dirty="0">
                <a:solidFill>
                  <a:srgbClr val="1A1D21"/>
                </a:solidFill>
              </a:rPr>
              <a:t>分钟级 Crypto CTA</a:t>
            </a:r>
            <a:pPr algn="l" indent="0" marL="0">
              <a:lnSpc>
                <a:spcPts val="4500"/>
              </a:lnSpc>
              <a:buNone/>
            </a:pPr>
            <a:r>
              <a:rPr lang="en-US" sz="3731" b="1" spc="-1" kern="0" dirty="0">
                <a:solidFill>
                  <a:srgbClr val="1A1D21"/>
                </a:solidFill>
              </a:rPr>
              <a:t>
</a:t>
            </a:r>
            <a:pPr algn="l" indent="0" marL="0">
              <a:lnSpc>
                <a:spcPts val="4500"/>
              </a:lnSpc>
              <a:buNone/>
            </a:pPr>
            <a:r>
              <a:rPr lang="en-US" sz="3731" b="1" spc="-1" kern="0" dirty="0">
                <a:solidFill>
                  <a:srgbClr val="1A1D21"/>
                </a:solidFill>
              </a:rPr>
              <a:t>因子策略(v1)落地方案</a:t>
            </a:r>
            <a:endParaRPr lang="en-US" sz="3731" dirty="0"/>
          </a:p>
        </p:txBody>
      </p:sp>
      <p:sp>
        <p:nvSpPr>
          <p:cNvPr id="4" name="Text 1"/>
          <p:cNvSpPr/>
          <p:nvPr/>
        </p:nvSpPr>
        <p:spPr>
          <a:xfrm>
            <a:off x="1143000" y="2806238"/>
            <a:ext cx="4281227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04" dirty="0">
                <a:solidFill>
                  <a:srgbClr val="333840"/>
                </a:solidFill>
              </a:rPr>
              <a:t>Breakout × Vol Targeting × Funding Filter</a:t>
            </a:r>
            <a:endParaRPr lang="en-US" sz="1704" dirty="0"/>
          </a:p>
        </p:txBody>
      </p:sp>
      <p:sp>
        <p:nvSpPr>
          <p:cNvPr id="5" name="Text 2"/>
          <p:cNvSpPr/>
          <p:nvPr/>
        </p:nvSpPr>
        <p:spPr>
          <a:xfrm>
            <a:off x="571500" y="4507706"/>
            <a:ext cx="1200150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spc="1" kern="0" dirty="0">
                <a:solidFill>
                  <a:srgbClr val="555555"/>
                </a:solidFill>
              </a:rPr>
              <a:t>量化策略研究团队</a:t>
            </a:r>
            <a:endParaRPr lang="en-US" sz="987" dirty="0"/>
          </a:p>
        </p:txBody>
      </p:sp>
      <p:sp>
        <p:nvSpPr>
          <p:cNvPr id="6" name="Text 3"/>
          <p:cNvSpPr/>
          <p:nvPr/>
        </p:nvSpPr>
        <p:spPr>
          <a:xfrm>
            <a:off x="7878105" y="4507706"/>
            <a:ext cx="694395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052CC"/>
                </a:solidFill>
              </a:rPr>
              <a:t>2026年1月</a:t>
            </a:r>
            <a:endParaRPr lang="en-US" sz="987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428625"/>
            <a:ext cx="8001000" cy="720068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571500" y="428625"/>
            <a:ext cx="42863" cy="720068"/>
          </a:xfrm>
          <a:prstGeom prst="rect">
            <a:avLst/>
          </a:prstGeom>
          <a:solidFill>
            <a:srgbClr val="0052CC"/>
          </a:solidFill>
          <a:ln/>
        </p:spPr>
      </p:sp>
      <p:sp>
        <p:nvSpPr>
          <p:cNvPr id="5" name="Text 2"/>
          <p:cNvSpPr/>
          <p:nvPr/>
        </p:nvSpPr>
        <p:spPr>
          <a:xfrm>
            <a:off x="785813" y="428625"/>
            <a:ext cx="7786688" cy="7200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121" b="1" dirty="0">
                <a:solidFill>
                  <a:srgbClr val="1A1D21"/>
                </a:solidFill>
              </a:rPr>
              <a:t>Crypto CTA策略在高波动市场中</a:t>
            </a:r>
            <a:pPr algn="l" indent="0" marL="0">
              <a:lnSpc>
                <a:spcPts val="2800"/>
              </a:lnSpc>
              <a:buNone/>
            </a:pPr>
            <a:r>
              <a:rPr lang="en-US" sz="2121" b="1" dirty="0">
                <a:solidFill>
                  <a:srgbClr val="1A1D21"/>
                </a:solidFill>
              </a:rPr>
              <a:t>
</a:t>
            </a:r>
            <a:pPr algn="l" indent="0" marL="0">
              <a:lnSpc>
                <a:spcPts val="2800"/>
              </a:lnSpc>
              <a:buNone/>
            </a:pPr>
            <a:r>
              <a:rPr lang="en-US" sz="2121" b="1" dirty="0">
                <a:solidFill>
                  <a:srgbClr val="1A1D21"/>
                </a:solidFill>
              </a:rPr>
              <a:t>具备天然优势</a:t>
            </a:r>
            <a:endParaRPr lang="en-US" sz="2121" dirty="0"/>
          </a:p>
        </p:txBody>
      </p:sp>
      <p:sp>
        <p:nvSpPr>
          <p:cNvPr id="6" name="Text 3"/>
          <p:cNvSpPr/>
          <p:nvPr/>
        </p:nvSpPr>
        <p:spPr>
          <a:xfrm>
            <a:off x="571500" y="1291568"/>
            <a:ext cx="3429000" cy="2500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052CC"/>
                </a:solidFill>
              </a:rPr>
              <a:t>01. 趋势持续性</a:t>
            </a:r>
            <a:endParaRPr lang="en-US" sz="1193" dirty="0"/>
          </a:p>
        </p:txBody>
      </p:sp>
      <p:sp>
        <p:nvSpPr>
          <p:cNvPr id="7" name="Text 4"/>
          <p:cNvSpPr/>
          <p:nvPr/>
        </p:nvSpPr>
        <p:spPr>
          <a:xfrm>
            <a:off x="571500" y="1598749"/>
            <a:ext cx="3429000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just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333840"/>
                </a:solidFill>
              </a:rPr>
              <a:t>CTA策略的核心收益逻辑建立在趋势的持续性之上。在高波动市场中，趋势段更明显、持续时间更长，为策略提供了充足的Alpha来源。</a:t>
            </a:r>
            <a:endParaRPr lang="en-US" sz="942" dirty="0"/>
          </a:p>
        </p:txBody>
      </p:sp>
      <p:sp>
        <p:nvSpPr>
          <p:cNvPr id="8" name="Text 5"/>
          <p:cNvSpPr/>
          <p:nvPr/>
        </p:nvSpPr>
        <p:spPr>
          <a:xfrm>
            <a:off x="571500" y="2330202"/>
            <a:ext cx="3429000" cy="2500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052CC"/>
                </a:solidFill>
              </a:rPr>
              <a:t>02. 市场特性匹配</a:t>
            </a:r>
            <a:endParaRPr lang="en-US" sz="1193" dirty="0"/>
          </a:p>
        </p:txBody>
      </p:sp>
      <p:sp>
        <p:nvSpPr>
          <p:cNvPr id="9" name="Text 6"/>
          <p:cNvSpPr/>
          <p:nvPr/>
        </p:nvSpPr>
        <p:spPr>
          <a:xfrm>
            <a:off x="571500" y="2637383"/>
            <a:ext cx="3429000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just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333840"/>
                </a:solidFill>
              </a:rPr>
              <a:t>BTC和ETH的年化波动率长期维持在60%-80%，远超传统资产。永续合约支持双向交易，24/7不间断运行消除了隔夜跳空风险。</a:t>
            </a:r>
            <a:endParaRPr lang="en-US" sz="942" dirty="0"/>
          </a:p>
        </p:txBody>
      </p:sp>
      <p:sp>
        <p:nvSpPr>
          <p:cNvPr id="10" name="Text 7"/>
          <p:cNvSpPr/>
          <p:nvPr/>
        </p:nvSpPr>
        <p:spPr>
          <a:xfrm>
            <a:off x="571500" y="3368836"/>
            <a:ext cx="3429000" cy="2500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052CC"/>
                </a:solidFill>
              </a:rPr>
              <a:t>03. 落地首选策略</a:t>
            </a:r>
            <a:endParaRPr lang="en-US" sz="1193" dirty="0"/>
          </a:p>
        </p:txBody>
      </p:sp>
      <p:sp>
        <p:nvSpPr>
          <p:cNvPr id="11" name="Text 8"/>
          <p:cNvSpPr/>
          <p:nvPr/>
        </p:nvSpPr>
        <p:spPr>
          <a:xfrm>
            <a:off x="571500" y="3676017"/>
            <a:ext cx="3429000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just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333840"/>
                </a:solidFill>
              </a:rPr>
              <a:t>相比高频做市和网格策略，CTA逻辑清晰、风险可控、对基础设施要求适中，是团队实现第一版可落地策略的最优选择。</a:t>
            </a:r>
            <a:endParaRPr lang="en-US" sz="942" dirty="0"/>
          </a:p>
        </p:txBody>
      </p:sp>
      <p:sp>
        <p:nvSpPr>
          <p:cNvPr id="12" name="Shape 9"/>
          <p:cNvSpPr/>
          <p:nvPr/>
        </p:nvSpPr>
        <p:spPr>
          <a:xfrm>
            <a:off x="4286250" y="1291568"/>
            <a:ext cx="4286250" cy="3709057"/>
          </a:xfrm>
          <a:prstGeom prst="rect">
            <a:avLst/>
          </a:prstGeom>
          <a:solidFill>
            <a:srgbClr val="FFFFFF"/>
          </a:solidFill>
          <a:ln w="9144">
            <a:solidFill>
              <a:srgbClr val="E0E0E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400550" y="1405868"/>
            <a:ext cx="2435293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spc="1" kern="0" dirty="0">
                <a:solidFill>
                  <a:srgbClr val="666666"/>
                </a:solidFill>
              </a:rPr>
              <a:t>资产波动率对比 (Crypto vs Traditional)</a:t>
            </a:r>
            <a:endParaRPr lang="en-US" sz="834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00550" y="1655899"/>
            <a:ext cx="4057650" cy="1857375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299323" y="3598999"/>
            <a:ext cx="2260104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727" i="1" dirty="0">
                <a:solidFill>
                  <a:srgbClr val="666666"/>
                </a:solidFill>
              </a:rPr>
              <a:t>数据来源: 历史波动率统计 (BTC vs S&amp;P 500 vs Gold)</a:t>
            </a:r>
            <a:endParaRPr lang="en-US" sz="727" dirty="0"/>
          </a:p>
        </p:txBody>
      </p:sp>
      <p:sp>
        <p:nvSpPr>
          <p:cNvPr id="16" name="Shape 12"/>
          <p:cNvSpPr/>
          <p:nvPr/>
        </p:nvSpPr>
        <p:spPr>
          <a:xfrm>
            <a:off x="4400550" y="3857960"/>
            <a:ext cx="4057650" cy="607219"/>
          </a:xfrm>
          <a:prstGeom prst="rect">
            <a:avLst/>
          </a:prstGeom>
          <a:solidFill>
            <a:srgbClr val="1A1D21"/>
          </a:solidFill>
          <a:ln/>
        </p:spPr>
      </p:sp>
      <p:sp>
        <p:nvSpPr>
          <p:cNvPr id="17" name="Text 13"/>
          <p:cNvSpPr/>
          <p:nvPr/>
        </p:nvSpPr>
        <p:spPr>
          <a:xfrm>
            <a:off x="4758547" y="3915110"/>
            <a:ext cx="839725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FF4D4D"/>
                </a:solidFill>
              </a:rPr>
              <a:t>60-80%</a:t>
            </a:r>
            <a:endParaRPr lang="en-US" sz="1602" dirty="0"/>
          </a:p>
        </p:txBody>
      </p:sp>
      <p:sp>
        <p:nvSpPr>
          <p:cNvPr id="18" name="Text 14"/>
          <p:cNvSpPr/>
          <p:nvPr/>
        </p:nvSpPr>
        <p:spPr>
          <a:xfrm>
            <a:off x="4758547" y="4263368"/>
            <a:ext cx="839725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AAAAAA"/>
                </a:solidFill>
              </a:rPr>
              <a:t>Crypto 年化波动率</a:t>
            </a:r>
            <a:endParaRPr lang="en-US" sz="727" dirty="0"/>
          </a:p>
        </p:txBody>
      </p:sp>
      <p:sp>
        <p:nvSpPr>
          <p:cNvPr id="19" name="Text 15"/>
          <p:cNvSpPr/>
          <p:nvPr/>
        </p:nvSpPr>
        <p:spPr>
          <a:xfrm>
            <a:off x="6142816" y="3915110"/>
            <a:ext cx="926120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FF4D4D"/>
                </a:solidFill>
              </a:rPr>
              <a:t>15-20%</a:t>
            </a:r>
            <a:endParaRPr lang="en-US" sz="1602" dirty="0"/>
          </a:p>
        </p:txBody>
      </p:sp>
      <p:sp>
        <p:nvSpPr>
          <p:cNvPr id="20" name="Text 16"/>
          <p:cNvSpPr/>
          <p:nvPr/>
        </p:nvSpPr>
        <p:spPr>
          <a:xfrm>
            <a:off x="6142816" y="4263368"/>
            <a:ext cx="926120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AAAAAA"/>
                </a:solidFill>
              </a:rPr>
              <a:t>股票市场 年化波动率</a:t>
            </a:r>
            <a:endParaRPr lang="en-US" sz="727" dirty="0"/>
          </a:p>
        </p:txBody>
      </p:sp>
      <p:sp>
        <p:nvSpPr>
          <p:cNvPr id="21" name="Text 17"/>
          <p:cNvSpPr/>
          <p:nvPr/>
        </p:nvSpPr>
        <p:spPr>
          <a:xfrm>
            <a:off x="7613479" y="3915110"/>
            <a:ext cx="486696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FF4D4D"/>
                </a:solidFill>
              </a:rPr>
              <a:t>24/7</a:t>
            </a:r>
            <a:endParaRPr lang="en-US" sz="1602" dirty="0"/>
          </a:p>
        </p:txBody>
      </p:sp>
      <p:sp>
        <p:nvSpPr>
          <p:cNvPr id="22" name="Text 18"/>
          <p:cNvSpPr/>
          <p:nvPr/>
        </p:nvSpPr>
        <p:spPr>
          <a:xfrm>
            <a:off x="7613479" y="4263368"/>
            <a:ext cx="486696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AAAAAA"/>
                </a:solidFill>
              </a:rPr>
              <a:t>交易时间</a:t>
            </a:r>
            <a:endParaRPr lang="en-US" sz="727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428625"/>
            <a:ext cx="8001000" cy="360034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571500" y="428625"/>
            <a:ext cx="42863" cy="360034"/>
          </a:xfrm>
          <a:prstGeom prst="rect">
            <a:avLst/>
          </a:prstGeom>
          <a:solidFill>
            <a:srgbClr val="0052CC"/>
          </a:solidFill>
          <a:ln/>
        </p:spPr>
      </p:sp>
      <p:sp>
        <p:nvSpPr>
          <p:cNvPr id="5" name="Text 2"/>
          <p:cNvSpPr/>
          <p:nvPr/>
        </p:nvSpPr>
        <p:spPr>
          <a:xfrm>
            <a:off x="785813" y="428625"/>
            <a:ext cx="7786688" cy="3600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121" b="1" dirty="0">
                <a:solidFill>
                  <a:srgbClr val="1A1D21"/>
                </a:solidFill>
              </a:rPr>
              <a:t>CTA趋势策略 ≠ 网格 ≠ 做市</a:t>
            </a:r>
            <a:endParaRPr lang="en-US" sz="2121" dirty="0"/>
          </a:p>
        </p:txBody>
      </p:sp>
      <p:sp>
        <p:nvSpPr>
          <p:cNvPr id="6" name="Shape 3"/>
          <p:cNvSpPr/>
          <p:nvPr/>
        </p:nvSpPr>
        <p:spPr>
          <a:xfrm>
            <a:off x="571500" y="1074409"/>
            <a:ext cx="2893219" cy="1451967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Shape 4"/>
          <p:cNvSpPr/>
          <p:nvPr/>
        </p:nvSpPr>
        <p:spPr>
          <a:xfrm>
            <a:off x="571500" y="1074409"/>
            <a:ext cx="2893219" cy="28575"/>
          </a:xfrm>
          <a:prstGeom prst="rect">
            <a:avLst/>
          </a:prstGeom>
          <a:solidFill>
            <a:srgbClr val="0052CC"/>
          </a:solidFill>
          <a:ln/>
        </p:spPr>
      </p:sp>
      <p:sp>
        <p:nvSpPr>
          <p:cNvPr id="8" name="Text 5"/>
          <p:cNvSpPr/>
          <p:nvPr/>
        </p:nvSpPr>
        <p:spPr>
          <a:xfrm>
            <a:off x="700088" y="1202996"/>
            <a:ext cx="263604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spc="1" kern="0" dirty="0">
                <a:solidFill>
                  <a:srgbClr val="666666"/>
                </a:solidFill>
              </a:rPr>
              <a:t>Trend Following</a:t>
            </a:r>
            <a:endParaRPr lang="en-US" sz="727" dirty="0"/>
          </a:p>
        </p:txBody>
      </p:sp>
      <p:sp>
        <p:nvSpPr>
          <p:cNvPr id="9" name="Text 6"/>
          <p:cNvSpPr/>
          <p:nvPr/>
        </p:nvSpPr>
        <p:spPr>
          <a:xfrm>
            <a:off x="700088" y="1395878"/>
            <a:ext cx="2636044" cy="2500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A1D21"/>
                </a:solidFill>
              </a:rPr>
              <a:t>CTA 趋势策略</a:t>
            </a:r>
            <a:endParaRPr lang="en-US" sz="1193" dirty="0"/>
          </a:p>
        </p:txBody>
      </p:sp>
      <p:sp>
        <p:nvSpPr>
          <p:cNvPr id="10" name="Text 7"/>
          <p:cNvSpPr/>
          <p:nvPr/>
        </p:nvSpPr>
        <p:spPr>
          <a:xfrm>
            <a:off x="700088" y="1731634"/>
            <a:ext cx="2636044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333840"/>
                </a:solidFill>
              </a:rPr>
              <a:t>方向性策略 (Momentum)。核心是识别趋势启动点并持有，收益来自趋势的持续性。</a:t>
            </a:r>
            <a:endParaRPr lang="en-US" sz="834" dirty="0"/>
          </a:p>
        </p:txBody>
      </p:sp>
      <p:sp>
        <p:nvSpPr>
          <p:cNvPr id="11" name="Text 8"/>
          <p:cNvSpPr/>
          <p:nvPr/>
        </p:nvSpPr>
        <p:spPr>
          <a:xfrm>
            <a:off x="700088" y="2188834"/>
            <a:ext cx="2636044" cy="208955"/>
          </a:xfrm>
          <a:prstGeom prst="rect">
            <a:avLst/>
          </a:prstGeom>
          <a:noFill/>
          <a:ln/>
        </p:spPr>
        <p:txBody>
          <a:bodyPr wrap="square" lIns="0" tIns="68072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1A1D21"/>
                </a:solidFill>
              </a:rPr>
              <a:t>持仓周期: 30分钟 ~ 12小时</a:t>
            </a:r>
            <a:endParaRPr lang="en-US" sz="683" dirty="0"/>
          </a:p>
        </p:txBody>
      </p:sp>
      <p:sp>
        <p:nvSpPr>
          <p:cNvPr id="12" name="Shape 9"/>
          <p:cNvSpPr/>
          <p:nvPr/>
        </p:nvSpPr>
        <p:spPr>
          <a:xfrm>
            <a:off x="2856523" y="1074409"/>
            <a:ext cx="493840" cy="116086"/>
          </a:xfrm>
          <a:prstGeom prst="rect">
            <a:avLst/>
          </a:prstGeom>
          <a:solidFill>
            <a:srgbClr val="0052CC"/>
          </a:solidFill>
          <a:ln/>
        </p:spPr>
      </p:sp>
      <p:sp>
        <p:nvSpPr>
          <p:cNvPr id="13" name="Text 10"/>
          <p:cNvSpPr/>
          <p:nvPr/>
        </p:nvSpPr>
        <p:spPr>
          <a:xfrm>
            <a:off x="2856523" y="1074409"/>
            <a:ext cx="493840" cy="116086"/>
          </a:xfrm>
          <a:prstGeom prst="rect">
            <a:avLst/>
          </a:prstGeom>
          <a:noFill/>
          <a:ln/>
        </p:spPr>
        <p:txBody>
          <a:bodyPr wrap="none" lIns="68072" tIns="34036" rIns="68072" bIns="34036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OUR FOCUS</a:t>
            </a:r>
            <a:endParaRPr lang="en-US" sz="584" dirty="0"/>
          </a:p>
        </p:txBody>
      </p:sp>
      <p:sp>
        <p:nvSpPr>
          <p:cNvPr id="14" name="Shape 11"/>
          <p:cNvSpPr/>
          <p:nvPr/>
        </p:nvSpPr>
        <p:spPr>
          <a:xfrm>
            <a:off x="3607594" y="1074409"/>
            <a:ext cx="2411016" cy="1451967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Shape 12"/>
          <p:cNvSpPr/>
          <p:nvPr/>
        </p:nvSpPr>
        <p:spPr>
          <a:xfrm>
            <a:off x="3607594" y="1074409"/>
            <a:ext cx="2411016" cy="28575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16" name="Text 13"/>
          <p:cNvSpPr/>
          <p:nvPr/>
        </p:nvSpPr>
        <p:spPr>
          <a:xfrm>
            <a:off x="3736181" y="1202996"/>
            <a:ext cx="2153841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spc="1" kern="0" dirty="0">
                <a:solidFill>
                  <a:srgbClr val="666666"/>
                </a:solidFill>
              </a:rPr>
              <a:t>Mean Reversion</a:t>
            </a:r>
            <a:endParaRPr lang="en-US" sz="727" dirty="0"/>
          </a:p>
        </p:txBody>
      </p:sp>
      <p:sp>
        <p:nvSpPr>
          <p:cNvPr id="17" name="Text 14"/>
          <p:cNvSpPr/>
          <p:nvPr/>
        </p:nvSpPr>
        <p:spPr>
          <a:xfrm>
            <a:off x="3736181" y="1395878"/>
            <a:ext cx="2153841" cy="2500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A1D21"/>
                </a:solidFill>
              </a:rPr>
              <a:t>网格策略</a:t>
            </a:r>
            <a:endParaRPr lang="en-US" sz="1193" dirty="0"/>
          </a:p>
        </p:txBody>
      </p:sp>
      <p:sp>
        <p:nvSpPr>
          <p:cNvPr id="18" name="Text 15"/>
          <p:cNvSpPr/>
          <p:nvPr/>
        </p:nvSpPr>
        <p:spPr>
          <a:xfrm>
            <a:off x="3736181" y="1731634"/>
            <a:ext cx="2153841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333840"/>
                </a:solidFill>
              </a:rPr>
              <a:t>震荡套利。假设价格在特定区间内波动，低买高卖。在单边趋势中会面临亏损。</a:t>
            </a:r>
            <a:endParaRPr lang="en-US" sz="834" dirty="0"/>
          </a:p>
        </p:txBody>
      </p:sp>
      <p:sp>
        <p:nvSpPr>
          <p:cNvPr id="19" name="Text 16"/>
          <p:cNvSpPr/>
          <p:nvPr/>
        </p:nvSpPr>
        <p:spPr>
          <a:xfrm>
            <a:off x="3736181" y="2188834"/>
            <a:ext cx="2153841" cy="208955"/>
          </a:xfrm>
          <a:prstGeom prst="rect">
            <a:avLst/>
          </a:prstGeom>
          <a:noFill/>
          <a:ln/>
        </p:spPr>
        <p:txBody>
          <a:bodyPr wrap="square" lIns="0" tIns="68072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1A1D21"/>
                </a:solidFill>
              </a:rPr>
              <a:t>持仓周期: 持续持仓 (依赖区间)</a:t>
            </a:r>
            <a:endParaRPr lang="en-US" sz="683" dirty="0"/>
          </a:p>
        </p:txBody>
      </p:sp>
      <p:sp>
        <p:nvSpPr>
          <p:cNvPr id="20" name="Shape 17"/>
          <p:cNvSpPr/>
          <p:nvPr/>
        </p:nvSpPr>
        <p:spPr>
          <a:xfrm>
            <a:off x="6161484" y="1074409"/>
            <a:ext cx="2411016" cy="1451967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Shape 18"/>
          <p:cNvSpPr/>
          <p:nvPr/>
        </p:nvSpPr>
        <p:spPr>
          <a:xfrm>
            <a:off x="6161484" y="1074409"/>
            <a:ext cx="2411016" cy="28575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22" name="Text 19"/>
          <p:cNvSpPr/>
          <p:nvPr/>
        </p:nvSpPr>
        <p:spPr>
          <a:xfrm>
            <a:off x="6290072" y="1202996"/>
            <a:ext cx="2153841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spc="1" kern="0" dirty="0">
                <a:solidFill>
                  <a:srgbClr val="666666"/>
                </a:solidFill>
              </a:rPr>
              <a:t>Market Making</a:t>
            </a:r>
            <a:endParaRPr lang="en-US" sz="727" dirty="0"/>
          </a:p>
        </p:txBody>
      </p:sp>
      <p:sp>
        <p:nvSpPr>
          <p:cNvPr id="23" name="Text 20"/>
          <p:cNvSpPr/>
          <p:nvPr/>
        </p:nvSpPr>
        <p:spPr>
          <a:xfrm>
            <a:off x="6290072" y="1395878"/>
            <a:ext cx="2153841" cy="2500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A1D21"/>
                </a:solidFill>
              </a:rPr>
              <a:t>高频做市 (HFT)</a:t>
            </a:r>
            <a:endParaRPr lang="en-US" sz="1193" dirty="0"/>
          </a:p>
        </p:txBody>
      </p:sp>
      <p:sp>
        <p:nvSpPr>
          <p:cNvPr id="24" name="Text 21"/>
          <p:cNvSpPr/>
          <p:nvPr/>
        </p:nvSpPr>
        <p:spPr>
          <a:xfrm>
            <a:off x="6290072" y="1731634"/>
            <a:ext cx="215384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333840"/>
                </a:solidFill>
              </a:rPr>
              <a:t>盘口级微观结构套利。提供流动性赚取买卖价差，对延迟和费率极度敏感。</a:t>
            </a:r>
            <a:endParaRPr lang="en-US" sz="834" dirty="0"/>
          </a:p>
        </p:txBody>
      </p:sp>
      <p:sp>
        <p:nvSpPr>
          <p:cNvPr id="25" name="Text 22"/>
          <p:cNvSpPr/>
          <p:nvPr/>
        </p:nvSpPr>
        <p:spPr>
          <a:xfrm>
            <a:off x="6290072" y="2160259"/>
            <a:ext cx="2153841" cy="208955"/>
          </a:xfrm>
          <a:prstGeom prst="rect">
            <a:avLst/>
          </a:prstGeom>
          <a:noFill/>
          <a:ln/>
        </p:spPr>
        <p:txBody>
          <a:bodyPr wrap="square" lIns="0" tIns="68072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1A1D21"/>
                </a:solidFill>
              </a:rPr>
              <a:t>持仓周期: 秒级 ~ 分钟级</a:t>
            </a:r>
            <a:endParaRPr lang="en-US" sz="683" dirty="0"/>
          </a:p>
        </p:txBody>
      </p:sp>
      <p:sp>
        <p:nvSpPr>
          <p:cNvPr id="26" name="Shape 23"/>
          <p:cNvSpPr/>
          <p:nvPr/>
        </p:nvSpPr>
        <p:spPr>
          <a:xfrm>
            <a:off x="571500" y="3509563"/>
            <a:ext cx="3857625" cy="981875"/>
          </a:xfrm>
          <a:prstGeom prst="rect">
            <a:avLst/>
          </a:prstGeom>
          <a:solidFill>
            <a:srgbClr val="1A1D21"/>
          </a:solidFill>
          <a:ln/>
        </p:spPr>
      </p:sp>
      <p:sp>
        <p:nvSpPr>
          <p:cNvPr id="27" name="Text 24"/>
          <p:cNvSpPr/>
          <p:nvPr/>
        </p:nvSpPr>
        <p:spPr>
          <a:xfrm>
            <a:off x="714375" y="3652438"/>
            <a:ext cx="3571875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0052CC"/>
                </a:solidFill>
              </a:rPr>
              <a:t>策略定位</a:t>
            </a:r>
            <a:endParaRPr lang="en-US" sz="683" dirty="0"/>
          </a:p>
        </p:txBody>
      </p:sp>
      <p:sp>
        <p:nvSpPr>
          <p:cNvPr id="28" name="Text 25"/>
          <p:cNvSpPr/>
          <p:nvPr/>
        </p:nvSpPr>
        <p:spPr>
          <a:xfrm>
            <a:off x="714375" y="3868536"/>
            <a:ext cx="3571875" cy="480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193" b="1" dirty="0">
                <a:solidFill>
                  <a:srgbClr val="FFFFFF"/>
                </a:solidFill>
              </a:rPr>
              <a:t>我们不做HFT，不做震荡网格。</a:t>
            </a:r>
            <a:pPr algn="l" indent="0" marL="0">
              <a:lnSpc>
                <a:spcPts val="1900"/>
              </a:lnSpc>
              <a:buNone/>
            </a:pPr>
            <a:r>
              <a:rPr lang="en-US" sz="1193" b="1" dirty="0">
                <a:solidFill>
                  <a:srgbClr val="FFFFFF"/>
                </a:solidFill>
              </a:rPr>
              <a:t>
</a:t>
            </a:r>
            <a:pPr algn="l" indent="0" marL="0">
              <a:lnSpc>
                <a:spcPts val="1900"/>
              </a:lnSpc>
              <a:buNone/>
            </a:pPr>
            <a:r>
              <a:rPr lang="en-US" sz="1193" b="1" dirty="0">
                <a:solidFill>
                  <a:srgbClr val="FFFFFF"/>
                </a:solidFill>
              </a:rPr>
              <a:t> 专注分钟级趋势CTA，捕捉中短期Alpha。</a:t>
            </a:r>
            <a:endParaRPr lang="en-US" sz="1193" dirty="0"/>
          </a:p>
        </p:txBody>
      </p:sp>
      <p:sp>
        <p:nvSpPr>
          <p:cNvPr id="29" name="Shape 26"/>
          <p:cNvSpPr/>
          <p:nvPr/>
        </p:nvSpPr>
        <p:spPr>
          <a:xfrm>
            <a:off x="4714875" y="3286125"/>
            <a:ext cx="3857625" cy="142875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4875" y="3286125"/>
            <a:ext cx="3857625" cy="142875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85750" y="428625"/>
            <a:ext cx="8572500" cy="720068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285750" y="428625"/>
            <a:ext cx="42863" cy="720068"/>
          </a:xfrm>
          <a:prstGeom prst="rect">
            <a:avLst/>
          </a:prstGeom>
          <a:solidFill>
            <a:srgbClr val="0052CC"/>
          </a:solidFill>
          <a:ln/>
        </p:spPr>
      </p:sp>
      <p:sp>
        <p:nvSpPr>
          <p:cNvPr id="5" name="Text 2"/>
          <p:cNvSpPr/>
          <p:nvPr/>
        </p:nvSpPr>
        <p:spPr>
          <a:xfrm>
            <a:off x="500063" y="428625"/>
            <a:ext cx="8358188" cy="7200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121" b="1" dirty="0">
                <a:solidFill>
                  <a:srgbClr val="1A1D21"/>
                </a:solidFill>
              </a:rPr>
              <a:t>策略框架覆盖从数据到执行的</a:t>
            </a:r>
            <a:pPr algn="l" indent="0" marL="0">
              <a:lnSpc>
                <a:spcPts val="2800"/>
              </a:lnSpc>
              <a:buNone/>
            </a:pPr>
            <a:r>
              <a:rPr lang="en-US" sz="2121" b="1" dirty="0">
                <a:solidFill>
                  <a:srgbClr val="1A1D21"/>
                </a:solidFill>
              </a:rPr>
              <a:t>
</a:t>
            </a:r>
            <a:pPr algn="l" indent="0" marL="0">
              <a:lnSpc>
                <a:spcPts val="2800"/>
              </a:lnSpc>
              <a:buNone/>
            </a:pPr>
            <a:r>
              <a:rPr lang="en-US" sz="2121" b="1" dirty="0">
                <a:solidFill>
                  <a:srgbClr val="1A1D21"/>
                </a:solidFill>
              </a:rPr>
              <a:t>完整Pipeline</a:t>
            </a:r>
            <a:endParaRPr lang="en-US" sz="2121" dirty="0"/>
          </a:p>
        </p:txBody>
      </p:sp>
      <p:sp>
        <p:nvSpPr>
          <p:cNvPr id="6" name="Shape 3"/>
          <p:cNvSpPr/>
          <p:nvPr/>
        </p:nvSpPr>
        <p:spPr>
          <a:xfrm>
            <a:off x="285750" y="1291568"/>
            <a:ext cx="2771775" cy="175451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Shape 4"/>
          <p:cNvSpPr/>
          <p:nvPr/>
        </p:nvSpPr>
        <p:spPr>
          <a:xfrm>
            <a:off x="285750" y="1291568"/>
            <a:ext cx="2771775" cy="28575"/>
          </a:xfrm>
          <a:prstGeom prst="rect">
            <a:avLst/>
          </a:prstGeom>
          <a:solidFill>
            <a:srgbClr val="666666"/>
          </a:solidFill>
          <a:ln/>
        </p:spPr>
      </p:sp>
      <p:sp>
        <p:nvSpPr>
          <p:cNvPr id="8" name="Text 5"/>
          <p:cNvSpPr/>
          <p:nvPr/>
        </p:nvSpPr>
        <p:spPr>
          <a:xfrm>
            <a:off x="400050" y="1405868"/>
            <a:ext cx="2543175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spc="1" kern="0" dirty="0">
                <a:solidFill>
                  <a:srgbClr val="999999"/>
                </a:solidFill>
              </a:rPr>
              <a:t>Step 01</a:t>
            </a:r>
            <a:endParaRPr lang="en-US" sz="683" dirty="0"/>
          </a:p>
        </p:txBody>
      </p:sp>
      <p:sp>
        <p:nvSpPr>
          <p:cNvPr id="9" name="Text 6"/>
          <p:cNvSpPr/>
          <p:nvPr/>
        </p:nvSpPr>
        <p:spPr>
          <a:xfrm>
            <a:off x="400050" y="1598749"/>
            <a:ext cx="2543175" cy="276820"/>
          </a:xfrm>
          <a:prstGeom prst="rect">
            <a:avLst/>
          </a:prstGeom>
          <a:noFill/>
          <a:ln/>
        </p:spPr>
        <p:txBody>
          <a:bodyPr wrap="none" lIns="0" tIns="0" rIns="0" bIns="51054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1A1D21"/>
                </a:solidFill>
              </a:rPr>
              <a:t>数据层 Data</a:t>
            </a:r>
            <a:endParaRPr lang="en-US" sz="1090" dirty="0"/>
          </a:p>
        </p:txBody>
      </p:sp>
      <p:sp>
        <p:nvSpPr>
          <p:cNvPr id="10" name="Text 7"/>
          <p:cNvSpPr/>
          <p:nvPr/>
        </p:nvSpPr>
        <p:spPr>
          <a:xfrm>
            <a:off x="400050" y="1947007"/>
            <a:ext cx="40267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34" b="1" dirty="0">
                <a:solidFill>
                  <a:srgbClr val="0052CC"/>
                </a:solidFill>
              </a:rPr>
              <a:t>•</a:t>
            </a:r>
            <a:endParaRPr lang="en-US" sz="734" dirty="0"/>
          </a:p>
        </p:txBody>
      </p:sp>
      <p:sp>
        <p:nvSpPr>
          <p:cNvPr id="11" name="Text 8"/>
          <p:cNvSpPr/>
          <p:nvPr/>
        </p:nvSpPr>
        <p:spPr>
          <a:xfrm>
            <a:off x="507206" y="1954150"/>
            <a:ext cx="1018431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80" dirty="0">
                <a:solidFill>
                  <a:srgbClr val="333840"/>
                </a:solidFill>
              </a:rPr>
              <a:t>分钟K线 (1m OHLCV)</a:t>
            </a:r>
            <a:endParaRPr lang="en-US" sz="780" dirty="0"/>
          </a:p>
        </p:txBody>
      </p:sp>
      <p:sp>
        <p:nvSpPr>
          <p:cNvPr id="12" name="Text 9"/>
          <p:cNvSpPr/>
          <p:nvPr/>
        </p:nvSpPr>
        <p:spPr>
          <a:xfrm>
            <a:off x="400050" y="2150604"/>
            <a:ext cx="40267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34" b="1" dirty="0">
                <a:solidFill>
                  <a:srgbClr val="0052CC"/>
                </a:solidFill>
              </a:rPr>
              <a:t>•</a:t>
            </a:r>
            <a:endParaRPr lang="en-US" sz="734" dirty="0"/>
          </a:p>
        </p:txBody>
      </p:sp>
      <p:sp>
        <p:nvSpPr>
          <p:cNvPr id="13" name="Text 10"/>
          <p:cNvSpPr/>
          <p:nvPr/>
        </p:nvSpPr>
        <p:spPr>
          <a:xfrm>
            <a:off x="507206" y="2157747"/>
            <a:ext cx="998283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80" dirty="0">
                <a:solidFill>
                  <a:srgbClr val="333840"/>
                </a:solidFill>
              </a:rPr>
              <a:t>聚合5分钟 Bar (降噪)</a:t>
            </a:r>
            <a:endParaRPr lang="en-US" sz="780" dirty="0"/>
          </a:p>
        </p:txBody>
      </p:sp>
      <p:sp>
        <p:nvSpPr>
          <p:cNvPr id="14" name="Text 11"/>
          <p:cNvSpPr/>
          <p:nvPr/>
        </p:nvSpPr>
        <p:spPr>
          <a:xfrm>
            <a:off x="400050" y="2354200"/>
            <a:ext cx="40267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34" b="1" dirty="0">
                <a:solidFill>
                  <a:srgbClr val="0052CC"/>
                </a:solidFill>
              </a:rPr>
              <a:t>•</a:t>
            </a:r>
            <a:endParaRPr lang="en-US" sz="734" dirty="0"/>
          </a:p>
        </p:txBody>
      </p:sp>
      <p:sp>
        <p:nvSpPr>
          <p:cNvPr id="15" name="Text 12"/>
          <p:cNvSpPr/>
          <p:nvPr/>
        </p:nvSpPr>
        <p:spPr>
          <a:xfrm>
            <a:off x="507206" y="2361344"/>
            <a:ext cx="1101477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80" dirty="0">
                <a:solidFill>
                  <a:srgbClr val="333840"/>
                </a:solidFill>
              </a:rPr>
              <a:t>Funding Rate (8h更新)</a:t>
            </a:r>
            <a:endParaRPr lang="en-US" sz="780" dirty="0"/>
          </a:p>
        </p:txBody>
      </p:sp>
      <p:sp>
        <p:nvSpPr>
          <p:cNvPr id="16" name="Text 13"/>
          <p:cNvSpPr/>
          <p:nvPr/>
        </p:nvSpPr>
        <p:spPr>
          <a:xfrm>
            <a:off x="400050" y="2557797"/>
            <a:ext cx="40267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34" b="1" dirty="0">
                <a:solidFill>
                  <a:srgbClr val="0052CC"/>
                </a:solidFill>
              </a:rPr>
              <a:t>•</a:t>
            </a:r>
            <a:endParaRPr lang="en-US" sz="734" dirty="0"/>
          </a:p>
        </p:txBody>
      </p:sp>
      <p:sp>
        <p:nvSpPr>
          <p:cNvPr id="17" name="Text 14"/>
          <p:cNvSpPr/>
          <p:nvPr/>
        </p:nvSpPr>
        <p:spPr>
          <a:xfrm>
            <a:off x="507206" y="2564941"/>
            <a:ext cx="914260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80" dirty="0">
                <a:solidFill>
                  <a:srgbClr val="333840"/>
                </a:solidFill>
              </a:rPr>
              <a:t>Mark / Index Price</a:t>
            </a:r>
            <a:endParaRPr lang="en-US" sz="780" dirty="0"/>
          </a:p>
        </p:txBody>
      </p:sp>
      <p:sp>
        <p:nvSpPr>
          <p:cNvPr id="18" name="Text 15"/>
          <p:cNvSpPr/>
          <p:nvPr/>
        </p:nvSpPr>
        <p:spPr>
          <a:xfrm>
            <a:off x="3057525" y="2065241"/>
            <a:ext cx="142875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CCCCCC"/>
                </a:solidFill>
              </a:rPr>
              <a:t>→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3186113" y="1291568"/>
            <a:ext cx="2771775" cy="175451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Shape 17"/>
          <p:cNvSpPr/>
          <p:nvPr/>
        </p:nvSpPr>
        <p:spPr>
          <a:xfrm>
            <a:off x="3186113" y="1291568"/>
            <a:ext cx="2771775" cy="28575"/>
          </a:xfrm>
          <a:prstGeom prst="rect">
            <a:avLst/>
          </a:prstGeom>
          <a:solidFill>
            <a:srgbClr val="0052CC"/>
          </a:solidFill>
          <a:ln/>
        </p:spPr>
      </p:sp>
      <p:sp>
        <p:nvSpPr>
          <p:cNvPr id="21" name="Text 18"/>
          <p:cNvSpPr/>
          <p:nvPr/>
        </p:nvSpPr>
        <p:spPr>
          <a:xfrm>
            <a:off x="3300413" y="1405868"/>
            <a:ext cx="2543175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spc="1" kern="0" dirty="0">
                <a:solidFill>
                  <a:srgbClr val="999999"/>
                </a:solidFill>
              </a:rPr>
              <a:t>Step 02</a:t>
            </a:r>
            <a:endParaRPr lang="en-US" sz="683" dirty="0"/>
          </a:p>
        </p:txBody>
      </p:sp>
      <p:sp>
        <p:nvSpPr>
          <p:cNvPr id="22" name="Text 19"/>
          <p:cNvSpPr/>
          <p:nvPr/>
        </p:nvSpPr>
        <p:spPr>
          <a:xfrm>
            <a:off x="3300413" y="1598749"/>
            <a:ext cx="2543175" cy="276820"/>
          </a:xfrm>
          <a:prstGeom prst="rect">
            <a:avLst/>
          </a:prstGeom>
          <a:noFill/>
          <a:ln/>
        </p:spPr>
        <p:txBody>
          <a:bodyPr wrap="none" lIns="0" tIns="0" rIns="0" bIns="51054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1A1D21"/>
                </a:solidFill>
              </a:rPr>
              <a:t>因子层 Factor</a:t>
            </a:r>
            <a:endParaRPr lang="en-US" sz="1090" dirty="0"/>
          </a:p>
        </p:txBody>
      </p:sp>
      <p:sp>
        <p:nvSpPr>
          <p:cNvPr id="23" name="Text 20"/>
          <p:cNvSpPr/>
          <p:nvPr/>
        </p:nvSpPr>
        <p:spPr>
          <a:xfrm>
            <a:off x="3300413" y="1947007"/>
            <a:ext cx="40267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34" b="1" dirty="0">
                <a:solidFill>
                  <a:srgbClr val="0052CC"/>
                </a:solidFill>
              </a:rPr>
              <a:t>•</a:t>
            </a:r>
            <a:endParaRPr lang="en-US" sz="734" dirty="0"/>
          </a:p>
        </p:txBody>
      </p:sp>
      <p:sp>
        <p:nvSpPr>
          <p:cNvPr id="24" name="Text 21"/>
          <p:cNvSpPr/>
          <p:nvPr/>
        </p:nvSpPr>
        <p:spPr>
          <a:xfrm>
            <a:off x="3407569" y="1954150"/>
            <a:ext cx="1239692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34" b="1" dirty="0">
                <a:solidFill>
                  <a:srgbClr val="333840"/>
                </a:solidFill>
              </a:rPr>
              <a:t>突破趋势因子 (Breakout)</a:t>
            </a:r>
            <a:endParaRPr lang="en-US" sz="734" dirty="0"/>
          </a:p>
        </p:txBody>
      </p:sp>
      <p:sp>
        <p:nvSpPr>
          <p:cNvPr id="25" name="Text 22"/>
          <p:cNvSpPr/>
          <p:nvPr/>
        </p:nvSpPr>
        <p:spPr>
          <a:xfrm>
            <a:off x="3300413" y="2150604"/>
            <a:ext cx="40267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34" b="1" dirty="0">
                <a:solidFill>
                  <a:srgbClr val="0052CC"/>
                </a:solidFill>
              </a:rPr>
              <a:t>•</a:t>
            </a:r>
            <a:endParaRPr lang="en-US" sz="734" dirty="0"/>
          </a:p>
        </p:txBody>
      </p:sp>
      <p:sp>
        <p:nvSpPr>
          <p:cNvPr id="26" name="Text 23"/>
          <p:cNvSpPr/>
          <p:nvPr/>
        </p:nvSpPr>
        <p:spPr>
          <a:xfrm>
            <a:off x="3407569" y="2157747"/>
            <a:ext cx="716998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80" dirty="0">
                <a:solidFill>
                  <a:srgbClr val="333840"/>
                </a:solidFill>
              </a:rPr>
              <a:t>核心Alpha来源</a:t>
            </a:r>
            <a:endParaRPr lang="en-US" sz="780" dirty="0"/>
          </a:p>
        </p:txBody>
      </p:sp>
      <p:sp>
        <p:nvSpPr>
          <p:cNvPr id="27" name="Text 24"/>
          <p:cNvSpPr/>
          <p:nvPr/>
        </p:nvSpPr>
        <p:spPr>
          <a:xfrm>
            <a:off x="3300413" y="2354200"/>
            <a:ext cx="40267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34" b="1" dirty="0">
                <a:solidFill>
                  <a:srgbClr val="0052CC"/>
                </a:solidFill>
              </a:rPr>
              <a:t>•</a:t>
            </a:r>
            <a:endParaRPr lang="en-US" sz="734" dirty="0"/>
          </a:p>
        </p:txBody>
      </p:sp>
      <p:sp>
        <p:nvSpPr>
          <p:cNvPr id="28" name="Text 25"/>
          <p:cNvSpPr/>
          <p:nvPr/>
        </p:nvSpPr>
        <p:spPr>
          <a:xfrm>
            <a:off x="3407569" y="2361344"/>
            <a:ext cx="1165547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80" dirty="0">
                <a:solidFill>
                  <a:srgbClr val="333840"/>
                </a:solidFill>
              </a:rPr>
              <a:t>Donchian Channel 计算</a:t>
            </a:r>
            <a:endParaRPr lang="en-US" sz="780" dirty="0"/>
          </a:p>
        </p:txBody>
      </p:sp>
      <p:sp>
        <p:nvSpPr>
          <p:cNvPr id="29" name="Text 26"/>
          <p:cNvSpPr/>
          <p:nvPr/>
        </p:nvSpPr>
        <p:spPr>
          <a:xfrm>
            <a:off x="3300413" y="2557797"/>
            <a:ext cx="40267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34" b="1" dirty="0">
                <a:solidFill>
                  <a:srgbClr val="0052CC"/>
                </a:solidFill>
              </a:rPr>
              <a:t>•</a:t>
            </a:r>
            <a:endParaRPr lang="en-US" sz="734" dirty="0"/>
          </a:p>
        </p:txBody>
      </p:sp>
      <p:sp>
        <p:nvSpPr>
          <p:cNvPr id="30" name="Text 27"/>
          <p:cNvSpPr/>
          <p:nvPr/>
        </p:nvSpPr>
        <p:spPr>
          <a:xfrm>
            <a:off x="3407569" y="2564941"/>
            <a:ext cx="642938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80" dirty="0">
                <a:solidFill>
                  <a:srgbClr val="333840"/>
                </a:solidFill>
              </a:rPr>
              <a:t>多空信号生成</a:t>
            </a:r>
            <a:endParaRPr lang="en-US" sz="780" dirty="0"/>
          </a:p>
        </p:txBody>
      </p:sp>
      <p:sp>
        <p:nvSpPr>
          <p:cNvPr id="31" name="Text 28"/>
          <p:cNvSpPr/>
          <p:nvPr/>
        </p:nvSpPr>
        <p:spPr>
          <a:xfrm>
            <a:off x="5957888" y="2065241"/>
            <a:ext cx="142875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CCCCCC"/>
                </a:solidFill>
              </a:rPr>
              <a:t>→</a:t>
            </a:r>
            <a:endParaRPr lang="en-US" sz="1050" dirty="0"/>
          </a:p>
        </p:txBody>
      </p:sp>
      <p:sp>
        <p:nvSpPr>
          <p:cNvPr id="32" name="Shape 29"/>
          <p:cNvSpPr/>
          <p:nvPr/>
        </p:nvSpPr>
        <p:spPr>
          <a:xfrm>
            <a:off x="6086475" y="1291568"/>
            <a:ext cx="2771775" cy="175451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3" name="Shape 30"/>
          <p:cNvSpPr/>
          <p:nvPr/>
        </p:nvSpPr>
        <p:spPr>
          <a:xfrm>
            <a:off x="6086475" y="1291568"/>
            <a:ext cx="2771775" cy="28575"/>
          </a:xfrm>
          <a:prstGeom prst="rect">
            <a:avLst/>
          </a:prstGeom>
          <a:solidFill>
            <a:srgbClr val="FF4D4D"/>
          </a:solidFill>
          <a:ln/>
        </p:spPr>
      </p:sp>
      <p:sp>
        <p:nvSpPr>
          <p:cNvPr id="34" name="Text 31"/>
          <p:cNvSpPr/>
          <p:nvPr/>
        </p:nvSpPr>
        <p:spPr>
          <a:xfrm>
            <a:off x="6200775" y="1405868"/>
            <a:ext cx="2543175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spc="1" kern="0" dirty="0">
                <a:solidFill>
                  <a:srgbClr val="999999"/>
                </a:solidFill>
              </a:rPr>
              <a:t>Step 03</a:t>
            </a:r>
            <a:endParaRPr lang="en-US" sz="683" dirty="0"/>
          </a:p>
        </p:txBody>
      </p:sp>
      <p:sp>
        <p:nvSpPr>
          <p:cNvPr id="35" name="Text 32"/>
          <p:cNvSpPr/>
          <p:nvPr/>
        </p:nvSpPr>
        <p:spPr>
          <a:xfrm>
            <a:off x="6200775" y="1598749"/>
            <a:ext cx="2543175" cy="276820"/>
          </a:xfrm>
          <a:prstGeom prst="rect">
            <a:avLst/>
          </a:prstGeom>
          <a:noFill/>
          <a:ln/>
        </p:spPr>
        <p:txBody>
          <a:bodyPr wrap="none" lIns="0" tIns="0" rIns="0" bIns="51054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1A1D21"/>
                </a:solidFill>
              </a:rPr>
              <a:t>风险层 Risk</a:t>
            </a:r>
            <a:endParaRPr lang="en-US" sz="1090" dirty="0"/>
          </a:p>
        </p:txBody>
      </p:sp>
      <p:sp>
        <p:nvSpPr>
          <p:cNvPr id="36" name="Text 33"/>
          <p:cNvSpPr/>
          <p:nvPr/>
        </p:nvSpPr>
        <p:spPr>
          <a:xfrm>
            <a:off x="6200775" y="1947007"/>
            <a:ext cx="40267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34" b="1" dirty="0">
                <a:solidFill>
                  <a:srgbClr val="0052CC"/>
                </a:solidFill>
              </a:rPr>
              <a:t>•</a:t>
            </a:r>
            <a:endParaRPr lang="en-US" sz="734" dirty="0"/>
          </a:p>
        </p:txBody>
      </p:sp>
      <p:sp>
        <p:nvSpPr>
          <p:cNvPr id="37" name="Text 34"/>
          <p:cNvSpPr/>
          <p:nvPr/>
        </p:nvSpPr>
        <p:spPr>
          <a:xfrm>
            <a:off x="6307931" y="1954150"/>
            <a:ext cx="762846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34" b="1" dirty="0">
                <a:solidFill>
                  <a:srgbClr val="333840"/>
                </a:solidFill>
              </a:rPr>
              <a:t>ATR 波动率缩放</a:t>
            </a:r>
            <a:endParaRPr lang="en-US" sz="734" dirty="0"/>
          </a:p>
        </p:txBody>
      </p:sp>
      <p:sp>
        <p:nvSpPr>
          <p:cNvPr id="38" name="Text 35"/>
          <p:cNvSpPr/>
          <p:nvPr/>
        </p:nvSpPr>
        <p:spPr>
          <a:xfrm>
            <a:off x="6200775" y="2150604"/>
            <a:ext cx="40267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34" b="1" dirty="0">
                <a:solidFill>
                  <a:srgbClr val="0052CC"/>
                </a:solidFill>
              </a:rPr>
              <a:t>•</a:t>
            </a:r>
            <a:endParaRPr lang="en-US" sz="734" dirty="0"/>
          </a:p>
        </p:txBody>
      </p:sp>
      <p:sp>
        <p:nvSpPr>
          <p:cNvPr id="39" name="Text 36"/>
          <p:cNvSpPr/>
          <p:nvPr/>
        </p:nvSpPr>
        <p:spPr>
          <a:xfrm>
            <a:off x="6307931" y="2157747"/>
            <a:ext cx="903768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80" dirty="0">
                <a:solidFill>
                  <a:srgbClr val="333840"/>
                </a:solidFill>
              </a:rPr>
              <a:t>Vol Targeting 机制</a:t>
            </a:r>
            <a:endParaRPr lang="en-US" sz="780" dirty="0"/>
          </a:p>
        </p:txBody>
      </p:sp>
      <p:sp>
        <p:nvSpPr>
          <p:cNvPr id="40" name="Text 37"/>
          <p:cNvSpPr/>
          <p:nvPr/>
        </p:nvSpPr>
        <p:spPr>
          <a:xfrm>
            <a:off x="6200775" y="2354200"/>
            <a:ext cx="40267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34" b="1" dirty="0">
                <a:solidFill>
                  <a:srgbClr val="0052CC"/>
                </a:solidFill>
              </a:rPr>
              <a:t>•</a:t>
            </a:r>
            <a:endParaRPr lang="en-US" sz="734" dirty="0"/>
          </a:p>
        </p:txBody>
      </p:sp>
      <p:sp>
        <p:nvSpPr>
          <p:cNvPr id="41" name="Text 38"/>
          <p:cNvSpPr/>
          <p:nvPr/>
        </p:nvSpPr>
        <p:spPr>
          <a:xfrm>
            <a:off x="6307931" y="2361344"/>
            <a:ext cx="857250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80" dirty="0">
                <a:solidFill>
                  <a:srgbClr val="333840"/>
                </a:solidFill>
              </a:rPr>
              <a:t>动态调整仓位规模</a:t>
            </a:r>
            <a:endParaRPr lang="en-US" sz="780" dirty="0"/>
          </a:p>
        </p:txBody>
      </p:sp>
      <p:sp>
        <p:nvSpPr>
          <p:cNvPr id="42" name="Text 39"/>
          <p:cNvSpPr/>
          <p:nvPr/>
        </p:nvSpPr>
        <p:spPr>
          <a:xfrm>
            <a:off x="6200775" y="2557797"/>
            <a:ext cx="40267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34" b="1" dirty="0">
                <a:solidFill>
                  <a:srgbClr val="0052CC"/>
                </a:solidFill>
              </a:rPr>
              <a:t>•</a:t>
            </a:r>
            <a:endParaRPr lang="en-US" sz="734" dirty="0"/>
          </a:p>
        </p:txBody>
      </p:sp>
      <p:sp>
        <p:nvSpPr>
          <p:cNvPr id="43" name="Text 40"/>
          <p:cNvSpPr/>
          <p:nvPr/>
        </p:nvSpPr>
        <p:spPr>
          <a:xfrm>
            <a:off x="6307931" y="2564941"/>
            <a:ext cx="954779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80" dirty="0">
                <a:solidFill>
                  <a:srgbClr val="333840"/>
                </a:solidFill>
              </a:rPr>
              <a:t>Funding Carry 过滤</a:t>
            </a:r>
            <a:endParaRPr lang="en-US" sz="780" dirty="0"/>
          </a:p>
        </p:txBody>
      </p:sp>
      <p:sp>
        <p:nvSpPr>
          <p:cNvPr id="44" name="Text 41"/>
          <p:cNvSpPr/>
          <p:nvPr/>
        </p:nvSpPr>
        <p:spPr>
          <a:xfrm rot="5400000">
            <a:off x="8501063" y="2967503"/>
            <a:ext cx="142875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CCCCCC"/>
                </a:solidFill>
              </a:rPr>
              <a:t>→</a:t>
            </a:r>
            <a:endParaRPr lang="en-US" sz="1050" dirty="0"/>
          </a:p>
        </p:txBody>
      </p:sp>
      <p:sp>
        <p:nvSpPr>
          <p:cNvPr id="45" name="Shape 42"/>
          <p:cNvSpPr/>
          <p:nvPr/>
        </p:nvSpPr>
        <p:spPr>
          <a:xfrm>
            <a:off x="285750" y="3174671"/>
            <a:ext cx="2771775" cy="175451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6" name="Shape 43"/>
          <p:cNvSpPr/>
          <p:nvPr/>
        </p:nvSpPr>
        <p:spPr>
          <a:xfrm>
            <a:off x="285750" y="3174671"/>
            <a:ext cx="2771775" cy="28575"/>
          </a:xfrm>
          <a:prstGeom prst="rect">
            <a:avLst/>
          </a:prstGeom>
          <a:solidFill>
            <a:srgbClr val="0052CC"/>
          </a:solidFill>
          <a:ln/>
        </p:spPr>
      </p:sp>
      <p:sp>
        <p:nvSpPr>
          <p:cNvPr id="47" name="Text 44"/>
          <p:cNvSpPr/>
          <p:nvPr/>
        </p:nvSpPr>
        <p:spPr>
          <a:xfrm>
            <a:off x="400050" y="3288971"/>
            <a:ext cx="2543175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spc="1" kern="0" dirty="0">
                <a:solidFill>
                  <a:srgbClr val="999999"/>
                </a:solidFill>
              </a:rPr>
              <a:t>Step 04</a:t>
            </a:r>
            <a:endParaRPr lang="en-US" sz="683" dirty="0"/>
          </a:p>
        </p:txBody>
      </p:sp>
      <p:sp>
        <p:nvSpPr>
          <p:cNvPr id="48" name="Text 45"/>
          <p:cNvSpPr/>
          <p:nvPr/>
        </p:nvSpPr>
        <p:spPr>
          <a:xfrm>
            <a:off x="400050" y="3481853"/>
            <a:ext cx="2543175" cy="276820"/>
          </a:xfrm>
          <a:prstGeom prst="rect">
            <a:avLst/>
          </a:prstGeom>
          <a:noFill/>
          <a:ln/>
        </p:spPr>
        <p:txBody>
          <a:bodyPr wrap="none" lIns="0" tIns="0" rIns="0" bIns="51054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1A1D21"/>
                </a:solidFill>
              </a:rPr>
              <a:t>组合层 Portfolio</a:t>
            </a:r>
            <a:endParaRPr lang="en-US" sz="1090" dirty="0"/>
          </a:p>
        </p:txBody>
      </p:sp>
      <p:sp>
        <p:nvSpPr>
          <p:cNvPr id="49" name="Text 46"/>
          <p:cNvSpPr/>
          <p:nvPr/>
        </p:nvSpPr>
        <p:spPr>
          <a:xfrm>
            <a:off x="400050" y="3830110"/>
            <a:ext cx="40267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34" b="1" dirty="0">
                <a:solidFill>
                  <a:srgbClr val="0052CC"/>
                </a:solidFill>
              </a:rPr>
              <a:t>•</a:t>
            </a:r>
            <a:endParaRPr lang="en-US" sz="734" dirty="0"/>
          </a:p>
        </p:txBody>
      </p:sp>
      <p:sp>
        <p:nvSpPr>
          <p:cNvPr id="50" name="Text 47"/>
          <p:cNvSpPr/>
          <p:nvPr/>
        </p:nvSpPr>
        <p:spPr>
          <a:xfrm>
            <a:off x="507206" y="3837254"/>
            <a:ext cx="750094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80" dirty="0">
                <a:solidFill>
                  <a:srgbClr val="333840"/>
                </a:solidFill>
              </a:rPr>
              <a:t>多币种风险平价</a:t>
            </a:r>
            <a:endParaRPr lang="en-US" sz="780" dirty="0"/>
          </a:p>
        </p:txBody>
      </p:sp>
      <p:sp>
        <p:nvSpPr>
          <p:cNvPr id="51" name="Text 48"/>
          <p:cNvSpPr/>
          <p:nvPr/>
        </p:nvSpPr>
        <p:spPr>
          <a:xfrm>
            <a:off x="400050" y="4033707"/>
            <a:ext cx="40267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34" b="1" dirty="0">
                <a:solidFill>
                  <a:srgbClr val="0052CC"/>
                </a:solidFill>
              </a:rPr>
              <a:t>•</a:t>
            </a:r>
            <a:endParaRPr lang="en-US" sz="734" dirty="0"/>
          </a:p>
        </p:txBody>
      </p:sp>
      <p:sp>
        <p:nvSpPr>
          <p:cNvPr id="52" name="Text 49"/>
          <p:cNvSpPr/>
          <p:nvPr/>
        </p:nvSpPr>
        <p:spPr>
          <a:xfrm>
            <a:off x="507206" y="4040851"/>
            <a:ext cx="712282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80" dirty="0">
                <a:solidFill>
                  <a:srgbClr val="333840"/>
                </a:solidFill>
              </a:rPr>
              <a:t>1/Vol 加权分配</a:t>
            </a:r>
            <a:endParaRPr lang="en-US" sz="780" dirty="0"/>
          </a:p>
        </p:txBody>
      </p:sp>
      <p:sp>
        <p:nvSpPr>
          <p:cNvPr id="53" name="Text 50"/>
          <p:cNvSpPr/>
          <p:nvPr/>
        </p:nvSpPr>
        <p:spPr>
          <a:xfrm>
            <a:off x="400050" y="4237304"/>
            <a:ext cx="40267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34" b="1" dirty="0">
                <a:solidFill>
                  <a:srgbClr val="0052CC"/>
                </a:solidFill>
              </a:rPr>
              <a:t>•</a:t>
            </a:r>
            <a:endParaRPr lang="en-US" sz="734" dirty="0"/>
          </a:p>
        </p:txBody>
      </p:sp>
      <p:sp>
        <p:nvSpPr>
          <p:cNvPr id="54" name="Text 51"/>
          <p:cNvSpPr/>
          <p:nvPr/>
        </p:nvSpPr>
        <p:spPr>
          <a:xfrm>
            <a:off x="507206" y="4244448"/>
            <a:ext cx="535781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80" dirty="0">
                <a:solidFill>
                  <a:srgbClr val="333840"/>
                </a:solidFill>
              </a:rPr>
              <a:t>相关性分散</a:t>
            </a:r>
            <a:endParaRPr lang="en-US" sz="780" dirty="0"/>
          </a:p>
        </p:txBody>
      </p:sp>
      <p:sp>
        <p:nvSpPr>
          <p:cNvPr id="55" name="Text 52"/>
          <p:cNvSpPr/>
          <p:nvPr/>
        </p:nvSpPr>
        <p:spPr>
          <a:xfrm>
            <a:off x="400050" y="4440901"/>
            <a:ext cx="40267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34" b="1" dirty="0">
                <a:solidFill>
                  <a:srgbClr val="0052CC"/>
                </a:solidFill>
              </a:rPr>
              <a:t>•</a:t>
            </a:r>
            <a:endParaRPr lang="en-US" sz="734" dirty="0"/>
          </a:p>
        </p:txBody>
      </p:sp>
      <p:sp>
        <p:nvSpPr>
          <p:cNvPr id="56" name="Text 53"/>
          <p:cNvSpPr/>
          <p:nvPr/>
        </p:nvSpPr>
        <p:spPr>
          <a:xfrm>
            <a:off x="507206" y="4448045"/>
            <a:ext cx="642938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80" dirty="0">
                <a:solidFill>
                  <a:srgbClr val="333840"/>
                </a:solidFill>
              </a:rPr>
              <a:t>组合杠杆控制</a:t>
            </a:r>
            <a:endParaRPr lang="en-US" sz="780" dirty="0"/>
          </a:p>
        </p:txBody>
      </p:sp>
      <p:sp>
        <p:nvSpPr>
          <p:cNvPr id="57" name="Text 54"/>
          <p:cNvSpPr/>
          <p:nvPr/>
        </p:nvSpPr>
        <p:spPr>
          <a:xfrm>
            <a:off x="3057525" y="3948345"/>
            <a:ext cx="142875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CCCCCC"/>
                </a:solidFill>
              </a:rPr>
              <a:t>→</a:t>
            </a:r>
            <a:endParaRPr lang="en-US" sz="1050" dirty="0"/>
          </a:p>
        </p:txBody>
      </p:sp>
      <p:sp>
        <p:nvSpPr>
          <p:cNvPr id="58" name="Shape 55"/>
          <p:cNvSpPr/>
          <p:nvPr/>
        </p:nvSpPr>
        <p:spPr>
          <a:xfrm>
            <a:off x="3186113" y="3174671"/>
            <a:ext cx="2771775" cy="175451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9" name="Shape 56"/>
          <p:cNvSpPr/>
          <p:nvPr/>
        </p:nvSpPr>
        <p:spPr>
          <a:xfrm>
            <a:off x="3186113" y="3174671"/>
            <a:ext cx="2771775" cy="28575"/>
          </a:xfrm>
          <a:prstGeom prst="rect">
            <a:avLst/>
          </a:prstGeom>
          <a:solidFill>
            <a:srgbClr val="1A1D21"/>
          </a:solidFill>
          <a:ln/>
        </p:spPr>
      </p:sp>
      <p:sp>
        <p:nvSpPr>
          <p:cNvPr id="60" name="Text 57"/>
          <p:cNvSpPr/>
          <p:nvPr/>
        </p:nvSpPr>
        <p:spPr>
          <a:xfrm>
            <a:off x="3300413" y="3288971"/>
            <a:ext cx="2543175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spc="1" kern="0" dirty="0">
                <a:solidFill>
                  <a:srgbClr val="999999"/>
                </a:solidFill>
              </a:rPr>
              <a:t>Step 05</a:t>
            </a:r>
            <a:endParaRPr lang="en-US" sz="683" dirty="0"/>
          </a:p>
        </p:txBody>
      </p:sp>
      <p:sp>
        <p:nvSpPr>
          <p:cNvPr id="61" name="Text 58"/>
          <p:cNvSpPr/>
          <p:nvPr/>
        </p:nvSpPr>
        <p:spPr>
          <a:xfrm>
            <a:off x="3300413" y="3481853"/>
            <a:ext cx="2543175" cy="276820"/>
          </a:xfrm>
          <a:prstGeom prst="rect">
            <a:avLst/>
          </a:prstGeom>
          <a:noFill/>
          <a:ln/>
        </p:spPr>
        <p:txBody>
          <a:bodyPr wrap="none" lIns="0" tIns="0" rIns="0" bIns="51054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1A1D21"/>
                </a:solidFill>
              </a:rPr>
              <a:t>执行层 Execution</a:t>
            </a:r>
            <a:endParaRPr lang="en-US" sz="1090" dirty="0"/>
          </a:p>
        </p:txBody>
      </p:sp>
      <p:sp>
        <p:nvSpPr>
          <p:cNvPr id="62" name="Text 59"/>
          <p:cNvSpPr/>
          <p:nvPr/>
        </p:nvSpPr>
        <p:spPr>
          <a:xfrm>
            <a:off x="3300413" y="3830110"/>
            <a:ext cx="40267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34" b="1" dirty="0">
                <a:solidFill>
                  <a:srgbClr val="0052CC"/>
                </a:solidFill>
              </a:rPr>
              <a:t>•</a:t>
            </a:r>
            <a:endParaRPr lang="en-US" sz="734" dirty="0"/>
          </a:p>
        </p:txBody>
      </p:sp>
      <p:sp>
        <p:nvSpPr>
          <p:cNvPr id="63" name="Text 60"/>
          <p:cNvSpPr/>
          <p:nvPr/>
        </p:nvSpPr>
        <p:spPr>
          <a:xfrm>
            <a:off x="3407569" y="3837254"/>
            <a:ext cx="831549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80" dirty="0">
                <a:solidFill>
                  <a:srgbClr val="333840"/>
                </a:solidFill>
              </a:rPr>
              <a:t>信号确认 (2 bars)</a:t>
            </a:r>
            <a:endParaRPr lang="en-US" sz="780" dirty="0"/>
          </a:p>
        </p:txBody>
      </p:sp>
      <p:sp>
        <p:nvSpPr>
          <p:cNvPr id="64" name="Text 61"/>
          <p:cNvSpPr/>
          <p:nvPr/>
        </p:nvSpPr>
        <p:spPr>
          <a:xfrm>
            <a:off x="3300413" y="4033707"/>
            <a:ext cx="40267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34" b="1" dirty="0">
                <a:solidFill>
                  <a:srgbClr val="0052CC"/>
                </a:solidFill>
              </a:rPr>
              <a:t>•</a:t>
            </a:r>
            <a:endParaRPr lang="en-US" sz="734" dirty="0"/>
          </a:p>
        </p:txBody>
      </p:sp>
      <p:sp>
        <p:nvSpPr>
          <p:cNvPr id="65" name="Text 62"/>
          <p:cNvSpPr/>
          <p:nvPr/>
        </p:nvSpPr>
        <p:spPr>
          <a:xfrm>
            <a:off x="3407569" y="4040851"/>
            <a:ext cx="850720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80" dirty="0">
                <a:solidFill>
                  <a:srgbClr val="333840"/>
                </a:solidFill>
              </a:rPr>
              <a:t>最小持仓期 (30m)</a:t>
            </a:r>
            <a:endParaRPr lang="en-US" sz="780" dirty="0"/>
          </a:p>
        </p:txBody>
      </p:sp>
      <p:sp>
        <p:nvSpPr>
          <p:cNvPr id="66" name="Text 63"/>
          <p:cNvSpPr/>
          <p:nvPr/>
        </p:nvSpPr>
        <p:spPr>
          <a:xfrm>
            <a:off x="3300413" y="4237304"/>
            <a:ext cx="40267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34" b="1" dirty="0">
                <a:solidFill>
                  <a:srgbClr val="0052CC"/>
                </a:solidFill>
              </a:rPr>
              <a:t>•</a:t>
            </a:r>
            <a:endParaRPr lang="en-US" sz="734" dirty="0"/>
          </a:p>
        </p:txBody>
      </p:sp>
      <p:sp>
        <p:nvSpPr>
          <p:cNvPr id="67" name="Text 64"/>
          <p:cNvSpPr/>
          <p:nvPr/>
        </p:nvSpPr>
        <p:spPr>
          <a:xfrm>
            <a:off x="3407569" y="4244448"/>
            <a:ext cx="729109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80" dirty="0">
                <a:solidFill>
                  <a:srgbClr val="333840"/>
                </a:solidFill>
              </a:rPr>
              <a:t>限频 (1次/小时)</a:t>
            </a:r>
            <a:endParaRPr lang="en-US" sz="780" dirty="0"/>
          </a:p>
        </p:txBody>
      </p:sp>
      <p:sp>
        <p:nvSpPr>
          <p:cNvPr id="68" name="Text 65"/>
          <p:cNvSpPr/>
          <p:nvPr/>
        </p:nvSpPr>
        <p:spPr>
          <a:xfrm>
            <a:off x="3300413" y="4440901"/>
            <a:ext cx="40267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34" b="1" dirty="0">
                <a:solidFill>
                  <a:srgbClr val="0052CC"/>
                </a:solidFill>
              </a:rPr>
              <a:t>•</a:t>
            </a:r>
            <a:endParaRPr lang="en-US" sz="734" dirty="0"/>
          </a:p>
        </p:txBody>
      </p:sp>
      <p:sp>
        <p:nvSpPr>
          <p:cNvPr id="69" name="Text 66"/>
          <p:cNvSpPr/>
          <p:nvPr/>
        </p:nvSpPr>
        <p:spPr>
          <a:xfrm>
            <a:off x="3407569" y="4448045"/>
            <a:ext cx="857250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80" dirty="0">
                <a:solidFill>
                  <a:srgbClr val="333840"/>
                </a:solidFill>
              </a:rPr>
              <a:t>滑点与手续费控制</a:t>
            </a:r>
            <a:endParaRPr lang="en-US" sz="780" dirty="0"/>
          </a:p>
        </p:txBody>
      </p:sp>
      <p:sp>
        <p:nvSpPr>
          <p:cNvPr id="70" name="Text 67"/>
          <p:cNvSpPr/>
          <p:nvPr/>
        </p:nvSpPr>
        <p:spPr>
          <a:xfrm>
            <a:off x="5957888" y="3948345"/>
            <a:ext cx="142875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CCCCCC"/>
                </a:solidFill>
              </a:rPr>
              <a:t>→</a:t>
            </a:r>
            <a:endParaRPr lang="en-US" sz="1050" dirty="0"/>
          </a:p>
        </p:txBody>
      </p:sp>
      <p:sp>
        <p:nvSpPr>
          <p:cNvPr id="71" name="Shape 68"/>
          <p:cNvSpPr/>
          <p:nvPr/>
        </p:nvSpPr>
        <p:spPr>
          <a:xfrm>
            <a:off x="6086475" y="3174671"/>
            <a:ext cx="2771775" cy="175451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2" name="Shape 69"/>
          <p:cNvSpPr/>
          <p:nvPr/>
        </p:nvSpPr>
        <p:spPr>
          <a:xfrm>
            <a:off x="6086475" y="3174671"/>
            <a:ext cx="2771775" cy="28575"/>
          </a:xfrm>
          <a:prstGeom prst="rect">
            <a:avLst/>
          </a:prstGeom>
          <a:solidFill>
            <a:srgbClr val="1A1D21"/>
          </a:solidFill>
          <a:ln/>
        </p:spPr>
      </p:sp>
      <p:sp>
        <p:nvSpPr>
          <p:cNvPr id="73" name="Text 70"/>
          <p:cNvSpPr/>
          <p:nvPr/>
        </p:nvSpPr>
        <p:spPr>
          <a:xfrm>
            <a:off x="6200775" y="3288971"/>
            <a:ext cx="2543175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spc="1" kern="0" dirty="0">
                <a:solidFill>
                  <a:srgbClr val="999999"/>
                </a:solidFill>
              </a:rPr>
              <a:t>Step 06</a:t>
            </a:r>
            <a:endParaRPr lang="en-US" sz="683" dirty="0"/>
          </a:p>
        </p:txBody>
      </p:sp>
      <p:sp>
        <p:nvSpPr>
          <p:cNvPr id="74" name="Text 71"/>
          <p:cNvSpPr/>
          <p:nvPr/>
        </p:nvSpPr>
        <p:spPr>
          <a:xfrm>
            <a:off x="6200775" y="3481853"/>
            <a:ext cx="2543175" cy="276820"/>
          </a:xfrm>
          <a:prstGeom prst="rect">
            <a:avLst/>
          </a:prstGeom>
          <a:noFill/>
          <a:ln/>
        </p:spPr>
        <p:txBody>
          <a:bodyPr wrap="none" lIns="0" tIns="0" rIns="0" bIns="51054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1A1D21"/>
                </a:solidFill>
              </a:rPr>
              <a:t>监控层 Monitor</a:t>
            </a:r>
            <a:endParaRPr lang="en-US" sz="1090" dirty="0"/>
          </a:p>
        </p:txBody>
      </p:sp>
      <p:sp>
        <p:nvSpPr>
          <p:cNvPr id="75" name="Text 72"/>
          <p:cNvSpPr/>
          <p:nvPr/>
        </p:nvSpPr>
        <p:spPr>
          <a:xfrm>
            <a:off x="6200775" y="3830110"/>
            <a:ext cx="40267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34" b="1" dirty="0">
                <a:solidFill>
                  <a:srgbClr val="0052CC"/>
                </a:solidFill>
              </a:rPr>
              <a:t>•</a:t>
            </a:r>
            <a:endParaRPr lang="en-US" sz="734" dirty="0"/>
          </a:p>
        </p:txBody>
      </p:sp>
      <p:sp>
        <p:nvSpPr>
          <p:cNvPr id="76" name="Text 73"/>
          <p:cNvSpPr/>
          <p:nvPr/>
        </p:nvSpPr>
        <p:spPr>
          <a:xfrm>
            <a:off x="6307931" y="3837254"/>
            <a:ext cx="643691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80" dirty="0">
                <a:solidFill>
                  <a:srgbClr val="333840"/>
                </a:solidFill>
              </a:rPr>
              <a:t>PnL 实时归因</a:t>
            </a:r>
            <a:endParaRPr lang="en-US" sz="780" dirty="0"/>
          </a:p>
        </p:txBody>
      </p:sp>
      <p:sp>
        <p:nvSpPr>
          <p:cNvPr id="77" name="Text 74"/>
          <p:cNvSpPr/>
          <p:nvPr/>
        </p:nvSpPr>
        <p:spPr>
          <a:xfrm>
            <a:off x="6200775" y="4033707"/>
            <a:ext cx="40267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34" b="1" dirty="0">
                <a:solidFill>
                  <a:srgbClr val="0052CC"/>
                </a:solidFill>
              </a:rPr>
              <a:t>•</a:t>
            </a:r>
            <a:endParaRPr lang="en-US" sz="734" dirty="0"/>
          </a:p>
        </p:txBody>
      </p:sp>
      <p:sp>
        <p:nvSpPr>
          <p:cNvPr id="78" name="Text 75"/>
          <p:cNvSpPr/>
          <p:nvPr/>
        </p:nvSpPr>
        <p:spPr>
          <a:xfrm>
            <a:off x="6307931" y="4040851"/>
            <a:ext cx="1064502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80" dirty="0">
                <a:solidFill>
                  <a:srgbClr val="333840"/>
                </a:solidFill>
              </a:rPr>
              <a:t>回撤控制 (Drawdown)</a:t>
            </a:r>
            <a:endParaRPr lang="en-US" sz="780" dirty="0"/>
          </a:p>
        </p:txBody>
      </p:sp>
      <p:sp>
        <p:nvSpPr>
          <p:cNvPr id="79" name="Text 76"/>
          <p:cNvSpPr/>
          <p:nvPr/>
        </p:nvSpPr>
        <p:spPr>
          <a:xfrm>
            <a:off x="6200775" y="4237304"/>
            <a:ext cx="40267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34" b="1" dirty="0">
                <a:solidFill>
                  <a:srgbClr val="0052CC"/>
                </a:solidFill>
              </a:rPr>
              <a:t>•</a:t>
            </a:r>
            <a:endParaRPr lang="en-US" sz="734" dirty="0"/>
          </a:p>
        </p:txBody>
      </p:sp>
      <p:sp>
        <p:nvSpPr>
          <p:cNvPr id="80" name="Text 77"/>
          <p:cNvSpPr/>
          <p:nvPr/>
        </p:nvSpPr>
        <p:spPr>
          <a:xfrm>
            <a:off x="6307931" y="4244448"/>
            <a:ext cx="642938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80" dirty="0">
                <a:solidFill>
                  <a:srgbClr val="333840"/>
                </a:solidFill>
              </a:rPr>
              <a:t>风控触发报警</a:t>
            </a:r>
            <a:endParaRPr lang="en-US" sz="780" dirty="0"/>
          </a:p>
        </p:txBody>
      </p:sp>
      <p:sp>
        <p:nvSpPr>
          <p:cNvPr id="81" name="Text 78"/>
          <p:cNvSpPr/>
          <p:nvPr/>
        </p:nvSpPr>
        <p:spPr>
          <a:xfrm>
            <a:off x="6200775" y="4440901"/>
            <a:ext cx="40267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34" b="1" dirty="0">
                <a:solidFill>
                  <a:srgbClr val="0052CC"/>
                </a:solidFill>
              </a:rPr>
              <a:t>•</a:t>
            </a:r>
            <a:endParaRPr lang="en-US" sz="734" dirty="0"/>
          </a:p>
        </p:txBody>
      </p:sp>
      <p:sp>
        <p:nvSpPr>
          <p:cNvPr id="82" name="Text 79"/>
          <p:cNvSpPr/>
          <p:nvPr/>
        </p:nvSpPr>
        <p:spPr>
          <a:xfrm>
            <a:off x="6307931" y="4448045"/>
            <a:ext cx="642938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80" dirty="0">
                <a:solidFill>
                  <a:srgbClr val="333840"/>
                </a:solidFill>
              </a:rPr>
              <a:t>系统延迟监控</a:t>
            </a:r>
            <a:endParaRPr lang="en-US" sz="78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428625"/>
            <a:ext cx="8001000" cy="720068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571500" y="428625"/>
            <a:ext cx="42863" cy="720068"/>
          </a:xfrm>
          <a:prstGeom prst="rect">
            <a:avLst/>
          </a:prstGeom>
          <a:solidFill>
            <a:srgbClr val="0052CC"/>
          </a:solidFill>
          <a:ln/>
        </p:spPr>
      </p:sp>
      <p:sp>
        <p:nvSpPr>
          <p:cNvPr id="5" name="Text 2"/>
          <p:cNvSpPr/>
          <p:nvPr/>
        </p:nvSpPr>
        <p:spPr>
          <a:xfrm>
            <a:off x="785813" y="428625"/>
            <a:ext cx="7786688" cy="7200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121" b="1" dirty="0">
                <a:solidFill>
                  <a:srgbClr val="1A1D21"/>
                </a:solidFill>
              </a:rPr>
              <a:t>策略初期聚焦高流动性</a:t>
            </a:r>
            <a:pPr algn="l" indent="0" marL="0">
              <a:lnSpc>
                <a:spcPts val="2800"/>
              </a:lnSpc>
              <a:buNone/>
            </a:pPr>
            <a:r>
              <a:rPr lang="en-US" sz="2121" b="1" dirty="0">
                <a:solidFill>
                  <a:srgbClr val="1A1D21"/>
                </a:solidFill>
              </a:rPr>
              <a:t>
</a:t>
            </a:r>
            <a:pPr algn="l" indent="0" marL="0">
              <a:lnSpc>
                <a:spcPts val="2800"/>
              </a:lnSpc>
              <a:buNone/>
            </a:pPr>
            <a:r>
              <a:rPr lang="en-US" sz="2121" b="1" dirty="0">
                <a:solidFill>
                  <a:srgbClr val="1A1D21"/>
                </a:solidFill>
              </a:rPr>
              <a:t>永续合约标的</a:t>
            </a:r>
            <a:endParaRPr lang="en-US" sz="2121" dirty="0"/>
          </a:p>
        </p:txBody>
      </p:sp>
      <p:sp>
        <p:nvSpPr>
          <p:cNvPr id="6" name="Shape 3"/>
          <p:cNvSpPr/>
          <p:nvPr/>
        </p:nvSpPr>
        <p:spPr>
          <a:xfrm>
            <a:off x="571500" y="1434443"/>
            <a:ext cx="883286" cy="323255"/>
          </a:xfrm>
          <a:prstGeom prst="rect">
            <a:avLst/>
          </a:prstGeom>
          <a:solidFill>
            <a:srgbClr val="1A1D21"/>
          </a:solidFill>
          <a:ln/>
        </p:spPr>
      </p:sp>
      <p:sp>
        <p:nvSpPr>
          <p:cNvPr id="7" name="Text 4"/>
          <p:cNvSpPr/>
          <p:nvPr/>
        </p:nvSpPr>
        <p:spPr>
          <a:xfrm>
            <a:off x="714375" y="1528204"/>
            <a:ext cx="184928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0052CC"/>
                </a:solidFill>
              </a:rPr>
              <a:t>BTC</a:t>
            </a:r>
            <a:endParaRPr lang="en-US" sz="683" dirty="0"/>
          </a:p>
        </p:txBody>
      </p:sp>
      <p:sp>
        <p:nvSpPr>
          <p:cNvPr id="8" name="Text 5"/>
          <p:cNvSpPr/>
          <p:nvPr/>
        </p:nvSpPr>
        <p:spPr>
          <a:xfrm>
            <a:off x="970741" y="1528204"/>
            <a:ext cx="34117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0052CC"/>
                </a:solidFill>
              </a:rPr>
              <a:t>USDT.P</a:t>
            </a:r>
            <a:endParaRPr lang="en-US" sz="683" dirty="0"/>
          </a:p>
        </p:txBody>
      </p:sp>
      <p:sp>
        <p:nvSpPr>
          <p:cNvPr id="9" name="Shape 6"/>
          <p:cNvSpPr/>
          <p:nvPr/>
        </p:nvSpPr>
        <p:spPr>
          <a:xfrm>
            <a:off x="1597661" y="1434443"/>
            <a:ext cx="886802" cy="323255"/>
          </a:xfrm>
          <a:prstGeom prst="rect">
            <a:avLst/>
          </a:prstGeom>
          <a:solidFill>
            <a:srgbClr val="1A1D21"/>
          </a:solidFill>
          <a:ln/>
        </p:spPr>
      </p:sp>
      <p:sp>
        <p:nvSpPr>
          <p:cNvPr id="10" name="Text 7"/>
          <p:cNvSpPr/>
          <p:nvPr/>
        </p:nvSpPr>
        <p:spPr>
          <a:xfrm>
            <a:off x="1740536" y="1528204"/>
            <a:ext cx="18844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0052CC"/>
                </a:solidFill>
              </a:rPr>
              <a:t>ETH</a:t>
            </a:r>
            <a:endParaRPr lang="en-US" sz="683" dirty="0"/>
          </a:p>
        </p:txBody>
      </p:sp>
      <p:sp>
        <p:nvSpPr>
          <p:cNvPr id="11" name="Text 8"/>
          <p:cNvSpPr/>
          <p:nvPr/>
        </p:nvSpPr>
        <p:spPr>
          <a:xfrm>
            <a:off x="2000417" y="1528204"/>
            <a:ext cx="34117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0052CC"/>
                </a:solidFill>
              </a:rPr>
              <a:t>USDT.P</a:t>
            </a:r>
            <a:endParaRPr lang="en-US" sz="683" dirty="0"/>
          </a:p>
        </p:txBody>
      </p:sp>
      <p:sp>
        <p:nvSpPr>
          <p:cNvPr id="12" name="Shape 9"/>
          <p:cNvSpPr/>
          <p:nvPr/>
        </p:nvSpPr>
        <p:spPr>
          <a:xfrm>
            <a:off x="2627337" y="1434443"/>
            <a:ext cx="887388" cy="323255"/>
          </a:xfrm>
          <a:prstGeom prst="rect">
            <a:avLst/>
          </a:prstGeom>
          <a:solidFill>
            <a:srgbClr val="1A1D21"/>
          </a:solidFill>
          <a:ln/>
        </p:spPr>
      </p:sp>
      <p:sp>
        <p:nvSpPr>
          <p:cNvPr id="13" name="Text 10"/>
          <p:cNvSpPr/>
          <p:nvPr/>
        </p:nvSpPr>
        <p:spPr>
          <a:xfrm>
            <a:off x="2770212" y="1528204"/>
            <a:ext cx="18903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0052CC"/>
                </a:solidFill>
              </a:rPr>
              <a:t>SOL</a:t>
            </a:r>
            <a:endParaRPr lang="en-US" sz="683" dirty="0"/>
          </a:p>
        </p:txBody>
      </p:sp>
      <p:sp>
        <p:nvSpPr>
          <p:cNvPr id="14" name="Text 11"/>
          <p:cNvSpPr/>
          <p:nvPr/>
        </p:nvSpPr>
        <p:spPr>
          <a:xfrm>
            <a:off x="3030680" y="1528204"/>
            <a:ext cx="34117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0052CC"/>
                </a:solidFill>
              </a:rPr>
              <a:t>USDT.P</a:t>
            </a:r>
            <a:endParaRPr lang="en-US" sz="683" dirty="0"/>
          </a:p>
        </p:txBody>
      </p:sp>
      <p:sp>
        <p:nvSpPr>
          <p:cNvPr id="15" name="Text 12"/>
          <p:cNvSpPr/>
          <p:nvPr/>
        </p:nvSpPr>
        <p:spPr>
          <a:xfrm>
            <a:off x="3657600" y="1434443"/>
            <a:ext cx="1556779" cy="323255"/>
          </a:xfrm>
          <a:prstGeom prst="rect">
            <a:avLst/>
          </a:prstGeom>
          <a:noFill/>
          <a:ln/>
        </p:spPr>
        <p:txBody>
          <a:bodyPr wrap="square" lIns="170053" tIns="68072" rIns="170053" bIns="68072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A1D21"/>
                </a:solidFill>
              </a:rPr>
              <a:t>+ Top 5 Liquid Alts</a:t>
            </a:r>
            <a:endParaRPr lang="en-US" sz="987" dirty="0"/>
          </a:p>
        </p:txBody>
      </p:sp>
      <p:sp>
        <p:nvSpPr>
          <p:cNvPr id="16" name="Text 13"/>
          <p:cNvSpPr/>
          <p:nvPr/>
        </p:nvSpPr>
        <p:spPr>
          <a:xfrm>
            <a:off x="571500" y="1900572"/>
            <a:ext cx="4247266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spc="1" kern="0" dirty="0">
                <a:solidFill>
                  <a:srgbClr val="666666"/>
                </a:solidFill>
              </a:rPr>
              <a:t>Data Processing Strategy</a:t>
            </a:r>
            <a:endParaRPr lang="en-US" sz="683" dirty="0"/>
          </a:p>
        </p:txBody>
      </p:sp>
      <p:sp>
        <p:nvSpPr>
          <p:cNvPr id="17" name="Text 14"/>
          <p:cNvSpPr/>
          <p:nvPr/>
        </p:nvSpPr>
        <p:spPr>
          <a:xfrm>
            <a:off x="571500" y="2143460"/>
            <a:ext cx="4247266" cy="480027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269" dirty="0">
                <a:solidFill>
                  <a:srgbClr val="1A1D21"/>
                </a:solidFill>
              </a:rPr>
              <a:t>从交易所接入 </a:t>
            </a:r>
            <a:pPr algn="l" indent="0" marL="0">
              <a:lnSpc>
                <a:spcPts val="1900"/>
              </a:lnSpc>
              <a:buNone/>
            </a:pPr>
            <a:r>
              <a:rPr lang="en-US" sz="1193" b="1" dirty="0">
                <a:solidFill>
                  <a:srgbClr val="1A1D21"/>
                </a:solidFill>
              </a:rPr>
              <a:t>1分钟原始K线</a:t>
            </a:r>
            <a:pPr algn="l" indent="0" marL="0">
              <a:lnSpc>
                <a:spcPts val="1900"/>
              </a:lnSpc>
              <a:buNone/>
            </a:pPr>
            <a:r>
              <a:rPr lang="en-US" sz="1269" dirty="0">
                <a:solidFill>
                  <a:srgbClr val="1A1D21"/>
                </a:solidFill>
              </a:rPr>
              <a:t>，</a:t>
            </a:r>
            <a:pPr algn="l" indent="0" marL="0">
              <a:lnSpc>
                <a:spcPts val="1900"/>
              </a:lnSpc>
              <a:buNone/>
            </a:pPr>
            <a:r>
              <a:rPr lang="en-US" sz="1269" dirty="0">
                <a:solidFill>
                  <a:srgbClr val="1A1D21"/>
                </a:solidFill>
              </a:rPr>
              <a:t>
</a:t>
            </a:r>
            <a:pPr algn="l" indent="0" marL="0">
              <a:lnSpc>
                <a:spcPts val="1900"/>
              </a:lnSpc>
              <a:buNone/>
            </a:pPr>
            <a:r>
              <a:rPr lang="en-US" sz="1269" dirty="0">
                <a:solidFill>
                  <a:srgbClr val="1A1D21"/>
                </a:solidFill>
              </a:rPr>
              <a:t> 聚合为 </a:t>
            </a:r>
            <a:pPr algn="l" indent="0" marL="0">
              <a:lnSpc>
                <a:spcPts val="1900"/>
              </a:lnSpc>
              <a:buNone/>
            </a:pPr>
            <a:r>
              <a:rPr lang="en-US" sz="1193" b="1" dirty="0">
                <a:solidFill>
                  <a:srgbClr val="1A1D21"/>
                </a:solidFill>
              </a:rPr>
              <a:t>5分钟 Bar</a:t>
            </a:r>
            <a:pPr algn="l" indent="0" marL="0">
              <a:lnSpc>
                <a:spcPts val="1900"/>
              </a:lnSpc>
              <a:buNone/>
            </a:pPr>
            <a:r>
              <a:rPr lang="en-US" sz="1269" dirty="0">
                <a:solidFill>
                  <a:srgbClr val="1A1D21"/>
                </a:solidFill>
              </a:rPr>
              <a:t> 以降低噪声。</a:t>
            </a:r>
            <a:endParaRPr lang="en-US" sz="1269" dirty="0"/>
          </a:p>
        </p:txBody>
      </p:sp>
      <p:sp>
        <p:nvSpPr>
          <p:cNvPr id="18" name="Text 15"/>
          <p:cNvSpPr/>
          <p:nvPr/>
        </p:nvSpPr>
        <p:spPr>
          <a:xfrm>
            <a:off x="571500" y="2752074"/>
            <a:ext cx="4247266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spc="1" kern="0" dirty="0">
                <a:solidFill>
                  <a:srgbClr val="666666"/>
                </a:solidFill>
              </a:rPr>
              <a:t>Required Data Fields</a:t>
            </a:r>
            <a:endParaRPr lang="en-US" sz="683" dirty="0"/>
          </a:p>
        </p:txBody>
      </p:sp>
      <p:sp>
        <p:nvSpPr>
          <p:cNvPr id="19" name="Text 16"/>
          <p:cNvSpPr/>
          <p:nvPr/>
        </p:nvSpPr>
        <p:spPr>
          <a:xfrm>
            <a:off x="571500" y="2994961"/>
            <a:ext cx="1274155" cy="314325"/>
          </a:xfrm>
          <a:prstGeom prst="rect">
            <a:avLst/>
          </a:prstGeom>
          <a:noFill/>
          <a:ln/>
        </p:spPr>
        <p:txBody>
          <a:bodyPr wrap="square" lIns="0" tIns="85090" rIns="0" bIns="85090" rtlCol="0" anchor="ctr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1A1D21"/>
                </a:solidFill>
              </a:rPr>
              <a:t>字段 (Field)</a:t>
            </a:r>
            <a:endParaRPr lang="en-US" sz="784" dirty="0"/>
          </a:p>
        </p:txBody>
      </p:sp>
      <p:sp>
        <p:nvSpPr>
          <p:cNvPr id="20" name="Text 17"/>
          <p:cNvSpPr/>
          <p:nvPr/>
        </p:nvSpPr>
        <p:spPr>
          <a:xfrm>
            <a:off x="1845655" y="2994961"/>
            <a:ext cx="1061796" cy="314325"/>
          </a:xfrm>
          <a:prstGeom prst="rect">
            <a:avLst/>
          </a:prstGeom>
          <a:noFill/>
          <a:ln/>
        </p:spPr>
        <p:txBody>
          <a:bodyPr wrap="square" lIns="0" tIns="85090" rIns="0" bIns="85090" rtlCol="0" anchor="ctr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1A1D21"/>
                </a:solidFill>
              </a:rPr>
              <a:t>来源</a:t>
            </a:r>
            <a:endParaRPr lang="en-US" sz="784" dirty="0"/>
          </a:p>
        </p:txBody>
      </p:sp>
      <p:sp>
        <p:nvSpPr>
          <p:cNvPr id="21" name="Text 18"/>
          <p:cNvSpPr/>
          <p:nvPr/>
        </p:nvSpPr>
        <p:spPr>
          <a:xfrm>
            <a:off x="2907450" y="2994961"/>
            <a:ext cx="849437" cy="314325"/>
          </a:xfrm>
          <a:prstGeom prst="rect">
            <a:avLst/>
          </a:prstGeom>
          <a:noFill/>
          <a:ln/>
        </p:spPr>
        <p:txBody>
          <a:bodyPr wrap="square" lIns="0" tIns="85090" rIns="0" bIns="85090" rtlCol="0" anchor="ctr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1A1D21"/>
                </a:solidFill>
              </a:rPr>
              <a:t>频率</a:t>
            </a:r>
            <a:endParaRPr lang="en-US" sz="784" dirty="0"/>
          </a:p>
        </p:txBody>
      </p:sp>
      <p:sp>
        <p:nvSpPr>
          <p:cNvPr id="22" name="Text 19"/>
          <p:cNvSpPr/>
          <p:nvPr/>
        </p:nvSpPr>
        <p:spPr>
          <a:xfrm>
            <a:off x="3756887" y="2994961"/>
            <a:ext cx="1061879" cy="314325"/>
          </a:xfrm>
          <a:prstGeom prst="rect">
            <a:avLst/>
          </a:prstGeom>
          <a:noFill/>
          <a:ln/>
        </p:spPr>
        <p:txBody>
          <a:bodyPr wrap="square" lIns="0" tIns="85090" rIns="0" bIns="85090" rtlCol="0" anchor="ctr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1A1D21"/>
                </a:solidFill>
              </a:rPr>
              <a:t>用途</a:t>
            </a:r>
            <a:endParaRPr lang="en-US" sz="784" dirty="0"/>
          </a:p>
        </p:txBody>
      </p:sp>
      <p:sp>
        <p:nvSpPr>
          <p:cNvPr id="23" name="Text 20"/>
          <p:cNvSpPr/>
          <p:nvPr/>
        </p:nvSpPr>
        <p:spPr>
          <a:xfrm>
            <a:off x="571500" y="3309286"/>
            <a:ext cx="1274155" cy="317897"/>
          </a:xfrm>
          <a:prstGeom prst="rect">
            <a:avLst/>
          </a:prstGeom>
          <a:noFill/>
          <a:ln/>
        </p:spPr>
        <p:txBody>
          <a:bodyPr wrap="square" lIns="0" tIns="85090" rIns="0" bIns="85090" rtlCol="0" anchor="ctr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333840"/>
                </a:solidFill>
              </a:rPr>
              <a:t>OHLCV</a:t>
            </a:r>
            <a:endParaRPr lang="en-US" sz="784" dirty="0"/>
          </a:p>
        </p:txBody>
      </p:sp>
      <p:sp>
        <p:nvSpPr>
          <p:cNvPr id="24" name="Text 21"/>
          <p:cNvSpPr/>
          <p:nvPr/>
        </p:nvSpPr>
        <p:spPr>
          <a:xfrm>
            <a:off x="1845655" y="3309286"/>
            <a:ext cx="1061796" cy="317897"/>
          </a:xfrm>
          <a:prstGeom prst="rect">
            <a:avLst/>
          </a:prstGeom>
          <a:noFill/>
          <a:ln/>
        </p:spPr>
        <p:txBody>
          <a:bodyPr wrap="square" lIns="0" tIns="85090" rIns="0" bIns="85090" rtlCol="0" anchor="ctr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333840"/>
                </a:solidFill>
              </a:rPr>
              <a:t>Exchange API</a:t>
            </a:r>
            <a:endParaRPr lang="en-US" sz="834" dirty="0"/>
          </a:p>
        </p:txBody>
      </p:sp>
      <p:sp>
        <p:nvSpPr>
          <p:cNvPr id="25" name="Text 22"/>
          <p:cNvSpPr/>
          <p:nvPr/>
        </p:nvSpPr>
        <p:spPr>
          <a:xfrm>
            <a:off x="2907450" y="3309286"/>
            <a:ext cx="849437" cy="317897"/>
          </a:xfrm>
          <a:prstGeom prst="rect">
            <a:avLst/>
          </a:prstGeom>
          <a:noFill/>
          <a:ln/>
        </p:spPr>
        <p:txBody>
          <a:bodyPr wrap="square" lIns="0" tIns="85090" rIns="0" bIns="85090" rtlCol="0" anchor="ctr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333840"/>
                </a:solidFill>
              </a:rPr>
              <a:t>1 min</a:t>
            </a:r>
            <a:endParaRPr lang="en-US" sz="834" dirty="0"/>
          </a:p>
        </p:txBody>
      </p:sp>
      <p:sp>
        <p:nvSpPr>
          <p:cNvPr id="26" name="Text 23"/>
          <p:cNvSpPr/>
          <p:nvPr/>
        </p:nvSpPr>
        <p:spPr>
          <a:xfrm>
            <a:off x="3756887" y="3309286"/>
            <a:ext cx="1061879" cy="317897"/>
          </a:xfrm>
          <a:prstGeom prst="rect">
            <a:avLst/>
          </a:prstGeom>
          <a:noFill/>
          <a:ln/>
        </p:spPr>
        <p:txBody>
          <a:bodyPr wrap="square" lIns="0" tIns="85090" rIns="0" bIns="85090" rtlCol="0" anchor="ctr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333840"/>
                </a:solidFill>
              </a:rPr>
              <a:t>因子计算</a:t>
            </a:r>
            <a:endParaRPr lang="en-US" sz="834" dirty="0"/>
          </a:p>
        </p:txBody>
      </p:sp>
      <p:sp>
        <p:nvSpPr>
          <p:cNvPr id="27" name="Text 24"/>
          <p:cNvSpPr/>
          <p:nvPr/>
        </p:nvSpPr>
        <p:spPr>
          <a:xfrm>
            <a:off x="571500" y="3627183"/>
            <a:ext cx="1274155" cy="314325"/>
          </a:xfrm>
          <a:prstGeom prst="rect">
            <a:avLst/>
          </a:prstGeom>
          <a:noFill/>
          <a:ln/>
        </p:spPr>
        <p:txBody>
          <a:bodyPr wrap="square" lIns="0" tIns="85090" rIns="0" bIns="85090" rtlCol="0" anchor="ctr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333840"/>
                </a:solidFill>
              </a:rPr>
              <a:t>Funding Rate</a:t>
            </a:r>
            <a:endParaRPr lang="en-US" sz="784" dirty="0"/>
          </a:p>
        </p:txBody>
      </p:sp>
      <p:sp>
        <p:nvSpPr>
          <p:cNvPr id="28" name="Text 25"/>
          <p:cNvSpPr/>
          <p:nvPr/>
        </p:nvSpPr>
        <p:spPr>
          <a:xfrm>
            <a:off x="1845655" y="3627183"/>
            <a:ext cx="1061796" cy="314325"/>
          </a:xfrm>
          <a:prstGeom prst="rect">
            <a:avLst/>
          </a:prstGeom>
          <a:noFill/>
          <a:ln/>
        </p:spPr>
        <p:txBody>
          <a:bodyPr wrap="square" lIns="0" tIns="85090" rIns="0" bIns="85090" rtlCol="0" anchor="ctr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333840"/>
                </a:solidFill>
              </a:rPr>
              <a:t>Exchange API</a:t>
            </a:r>
            <a:endParaRPr lang="en-US" sz="834" dirty="0"/>
          </a:p>
        </p:txBody>
      </p:sp>
      <p:sp>
        <p:nvSpPr>
          <p:cNvPr id="29" name="Text 26"/>
          <p:cNvSpPr/>
          <p:nvPr/>
        </p:nvSpPr>
        <p:spPr>
          <a:xfrm>
            <a:off x="2907450" y="3627183"/>
            <a:ext cx="849437" cy="314325"/>
          </a:xfrm>
          <a:prstGeom prst="rect">
            <a:avLst/>
          </a:prstGeom>
          <a:noFill/>
          <a:ln/>
        </p:spPr>
        <p:txBody>
          <a:bodyPr wrap="square" lIns="0" tIns="85090" rIns="0" bIns="85090" rtlCol="0" anchor="ctr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333840"/>
                </a:solidFill>
              </a:rPr>
              <a:t>8 hours</a:t>
            </a:r>
            <a:endParaRPr lang="en-US" sz="834" dirty="0"/>
          </a:p>
        </p:txBody>
      </p:sp>
      <p:sp>
        <p:nvSpPr>
          <p:cNvPr id="30" name="Text 27"/>
          <p:cNvSpPr/>
          <p:nvPr/>
        </p:nvSpPr>
        <p:spPr>
          <a:xfrm>
            <a:off x="3756887" y="3627183"/>
            <a:ext cx="1061879" cy="314325"/>
          </a:xfrm>
          <a:prstGeom prst="rect">
            <a:avLst/>
          </a:prstGeom>
          <a:noFill/>
          <a:ln/>
        </p:spPr>
        <p:txBody>
          <a:bodyPr wrap="square" lIns="0" tIns="85090" rIns="0" bIns="85090" rtlCol="0" anchor="ctr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333840"/>
                </a:solidFill>
              </a:rPr>
              <a:t>Carry 过滤</a:t>
            </a:r>
            <a:endParaRPr lang="en-US" sz="834" dirty="0"/>
          </a:p>
        </p:txBody>
      </p:sp>
      <p:sp>
        <p:nvSpPr>
          <p:cNvPr id="31" name="Text 28"/>
          <p:cNvSpPr/>
          <p:nvPr/>
        </p:nvSpPr>
        <p:spPr>
          <a:xfrm>
            <a:off x="571500" y="3941508"/>
            <a:ext cx="1274155" cy="310753"/>
          </a:xfrm>
          <a:prstGeom prst="rect">
            <a:avLst/>
          </a:prstGeom>
          <a:noFill/>
          <a:ln/>
        </p:spPr>
        <p:txBody>
          <a:bodyPr wrap="square" lIns="0" tIns="85090" rIns="0" bIns="85090" rtlCol="0" anchor="ctr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333840"/>
                </a:solidFill>
              </a:rPr>
              <a:t>Mark / Index</a:t>
            </a:r>
            <a:endParaRPr lang="en-US" sz="784" dirty="0"/>
          </a:p>
        </p:txBody>
      </p:sp>
      <p:sp>
        <p:nvSpPr>
          <p:cNvPr id="32" name="Text 29"/>
          <p:cNvSpPr/>
          <p:nvPr/>
        </p:nvSpPr>
        <p:spPr>
          <a:xfrm>
            <a:off x="1845655" y="3941508"/>
            <a:ext cx="1061796" cy="310753"/>
          </a:xfrm>
          <a:prstGeom prst="rect">
            <a:avLst/>
          </a:prstGeom>
          <a:noFill/>
          <a:ln/>
        </p:spPr>
        <p:txBody>
          <a:bodyPr wrap="square" lIns="0" tIns="85090" rIns="0" bIns="85090" rtlCol="0" anchor="ctr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333840"/>
                </a:solidFill>
              </a:rPr>
              <a:t>WebSocket</a:t>
            </a:r>
            <a:endParaRPr lang="en-US" sz="834" dirty="0"/>
          </a:p>
        </p:txBody>
      </p:sp>
      <p:sp>
        <p:nvSpPr>
          <p:cNvPr id="33" name="Text 30"/>
          <p:cNvSpPr/>
          <p:nvPr/>
        </p:nvSpPr>
        <p:spPr>
          <a:xfrm>
            <a:off x="2907450" y="3941508"/>
            <a:ext cx="849437" cy="310753"/>
          </a:xfrm>
          <a:prstGeom prst="rect">
            <a:avLst/>
          </a:prstGeom>
          <a:noFill/>
          <a:ln/>
        </p:spPr>
        <p:txBody>
          <a:bodyPr wrap="square" lIns="0" tIns="85090" rIns="0" bIns="85090" rtlCol="0" anchor="ctr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333840"/>
                </a:solidFill>
              </a:rPr>
              <a:t>Real-time</a:t>
            </a:r>
            <a:endParaRPr lang="en-US" sz="834" dirty="0"/>
          </a:p>
        </p:txBody>
      </p:sp>
      <p:sp>
        <p:nvSpPr>
          <p:cNvPr id="34" name="Text 31"/>
          <p:cNvSpPr/>
          <p:nvPr/>
        </p:nvSpPr>
        <p:spPr>
          <a:xfrm>
            <a:off x="3756887" y="3941508"/>
            <a:ext cx="1061879" cy="310753"/>
          </a:xfrm>
          <a:prstGeom prst="rect">
            <a:avLst/>
          </a:prstGeom>
          <a:noFill/>
          <a:ln/>
        </p:spPr>
        <p:txBody>
          <a:bodyPr wrap="square" lIns="0" tIns="85090" rIns="0" bIns="85090" rtlCol="0" anchor="ctr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333840"/>
                </a:solidFill>
              </a:rPr>
              <a:t>实盘风控</a:t>
            </a:r>
            <a:endParaRPr lang="en-US" sz="834" dirty="0"/>
          </a:p>
        </p:txBody>
      </p:sp>
      <p:pic>
        <p:nvPicPr>
          <p:cNvPr id="3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3079" y="2270987"/>
            <a:ext cx="3539421" cy="2143125"/>
          </a:xfrm>
          <a:prstGeom prst="rect">
            <a:avLst/>
          </a:prstGeom>
        </p:spPr>
      </p:pic>
      <p:sp>
        <p:nvSpPr>
          <p:cNvPr id="36" name="Text 32"/>
          <p:cNvSpPr/>
          <p:nvPr/>
        </p:nvSpPr>
        <p:spPr>
          <a:xfrm>
            <a:off x="5033079" y="4485549"/>
            <a:ext cx="3539421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888888"/>
                </a:solidFill>
              </a:rPr>
              <a:t>Example: OHLCV &amp; Volume Data Structure</a:t>
            </a:r>
            <a:endParaRPr lang="en-US" sz="621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428625"/>
            <a:ext cx="8001000" cy="720068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571500" y="428625"/>
            <a:ext cx="42863" cy="720068"/>
          </a:xfrm>
          <a:prstGeom prst="rect">
            <a:avLst/>
          </a:prstGeom>
          <a:solidFill>
            <a:srgbClr val="0052CC"/>
          </a:solidFill>
          <a:ln/>
        </p:spPr>
      </p:sp>
      <p:sp>
        <p:nvSpPr>
          <p:cNvPr id="5" name="Text 2"/>
          <p:cNvSpPr/>
          <p:nvPr/>
        </p:nvSpPr>
        <p:spPr>
          <a:xfrm>
            <a:off x="785813" y="428625"/>
            <a:ext cx="7786688" cy="7200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121" b="1" dirty="0">
                <a:solidFill>
                  <a:srgbClr val="1A1D21"/>
                </a:solidFill>
              </a:rPr>
              <a:t>Donchian Channel突破因子</a:t>
            </a:r>
            <a:pPr algn="l" indent="0" marL="0">
              <a:lnSpc>
                <a:spcPts val="2800"/>
              </a:lnSpc>
              <a:buNone/>
            </a:pPr>
            <a:r>
              <a:rPr lang="en-US" sz="2121" b="1" dirty="0">
                <a:solidFill>
                  <a:srgbClr val="1A1D21"/>
                </a:solidFill>
              </a:rPr>
              <a:t>
</a:t>
            </a:r>
            <a:pPr algn="l" indent="0" marL="0">
              <a:lnSpc>
                <a:spcPts val="2800"/>
              </a:lnSpc>
              <a:buNone/>
            </a:pPr>
            <a:r>
              <a:rPr lang="en-US" sz="2121" b="1" dirty="0">
                <a:solidFill>
                  <a:srgbClr val="1A1D21"/>
                </a:solidFill>
              </a:rPr>
              <a:t>捕捉趋势启动信号</a:t>
            </a:r>
            <a:endParaRPr lang="en-US" sz="2121" dirty="0"/>
          </a:p>
        </p:txBody>
      </p:sp>
      <p:sp>
        <p:nvSpPr>
          <p:cNvPr id="6" name="Text 3"/>
          <p:cNvSpPr/>
          <p:nvPr/>
        </p:nvSpPr>
        <p:spPr>
          <a:xfrm>
            <a:off x="571500" y="1291568"/>
            <a:ext cx="4286250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333840"/>
                </a:solidFill>
              </a:rPr>
              <a:t>基于海龟交易法则的经典时间序列CTA因子。通过计算过去L根K线的最高/最低价构建通道，价格突破即视为趋势启动。</a:t>
            </a:r>
            <a:endParaRPr lang="en-US" sz="942" dirty="0"/>
          </a:p>
        </p:txBody>
      </p:sp>
      <p:sp>
        <p:nvSpPr>
          <p:cNvPr id="7" name="Shape 4"/>
          <p:cNvSpPr/>
          <p:nvPr/>
        </p:nvSpPr>
        <p:spPr>
          <a:xfrm>
            <a:off x="571500" y="1774441"/>
            <a:ext cx="4286250" cy="1931519"/>
          </a:xfrm>
          <a:prstGeom prst="rect">
            <a:avLst/>
          </a:prstGeom>
          <a:solidFill>
            <a:srgbClr val="1A1D21"/>
          </a:solidFill>
          <a:ln/>
        </p:spPr>
      </p:sp>
      <p:sp>
        <p:nvSpPr>
          <p:cNvPr id="8" name="Shape 5"/>
          <p:cNvSpPr/>
          <p:nvPr/>
        </p:nvSpPr>
        <p:spPr>
          <a:xfrm>
            <a:off x="571500" y="1774441"/>
            <a:ext cx="28575" cy="1931519"/>
          </a:xfrm>
          <a:prstGeom prst="rect">
            <a:avLst/>
          </a:prstGeom>
          <a:solidFill>
            <a:srgbClr val="FF4D4D"/>
          </a:solidFill>
          <a:ln/>
        </p:spPr>
      </p:sp>
      <p:sp>
        <p:nvSpPr>
          <p:cNvPr id="9" name="Text 6"/>
          <p:cNvSpPr/>
          <p:nvPr/>
        </p:nvSpPr>
        <p:spPr>
          <a:xfrm>
            <a:off x="657225" y="1872667"/>
            <a:ext cx="560756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666666"/>
                </a:solidFill>
              </a:rPr>
              <a:t># 定义通道</a:t>
            </a:r>
            <a:endParaRPr lang="en-US" sz="784" dirty="0"/>
          </a:p>
        </p:txBody>
      </p:sp>
      <p:sp>
        <p:nvSpPr>
          <p:cNvPr id="10" name="Text 7"/>
          <p:cNvSpPr/>
          <p:nvPr/>
        </p:nvSpPr>
        <p:spPr>
          <a:xfrm>
            <a:off x="657225" y="2043029"/>
            <a:ext cx="4114800" cy="1828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E0E0E0"/>
                </a:solidFill>
              </a:rPr>
              <a:t>Upper = MAX(High, 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A5D6A7"/>
                </a:solidFill>
              </a:rPr>
              <a:t>L_entry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E0E0E0"/>
                </a:solidFill>
              </a:rPr>
              <a:t>)</a:t>
            </a:r>
            <a:endParaRPr lang="en-US" sz="834" dirty="0"/>
          </a:p>
        </p:txBody>
      </p:sp>
      <p:sp>
        <p:nvSpPr>
          <p:cNvPr id="11" name="Text 8"/>
          <p:cNvSpPr/>
          <p:nvPr/>
        </p:nvSpPr>
        <p:spPr>
          <a:xfrm>
            <a:off x="657225" y="2225892"/>
            <a:ext cx="4114800" cy="1828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E0E0E0"/>
                </a:solidFill>
              </a:rPr>
              <a:t>Lower = MIN(Low, 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A5D6A7"/>
                </a:solidFill>
              </a:rPr>
              <a:t>L_entry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E0E0E0"/>
                </a:solidFill>
              </a:rPr>
              <a:t>)</a:t>
            </a:r>
            <a:endParaRPr lang="en-US" sz="834" dirty="0"/>
          </a:p>
        </p:txBody>
      </p:sp>
      <p:sp>
        <p:nvSpPr>
          <p:cNvPr id="12" name="Text 9"/>
          <p:cNvSpPr/>
          <p:nvPr/>
        </p:nvSpPr>
        <p:spPr>
          <a:xfrm>
            <a:off x="657225" y="2478407"/>
            <a:ext cx="560756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666666"/>
                </a:solidFill>
              </a:rPr>
              <a:t># 入场信号</a:t>
            </a:r>
            <a:endParaRPr lang="en-US" sz="784" dirty="0"/>
          </a:p>
        </p:txBody>
      </p:sp>
      <p:sp>
        <p:nvSpPr>
          <p:cNvPr id="13" name="Text 10"/>
          <p:cNvSpPr/>
          <p:nvPr/>
        </p:nvSpPr>
        <p:spPr>
          <a:xfrm>
            <a:off x="657225" y="2648769"/>
            <a:ext cx="4114800" cy="1828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E0E0E0"/>
                </a:solidFill>
              </a:rPr>
              <a:t>IF Close(t) 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FF4D4D"/>
                </a:solidFill>
              </a:rPr>
              <a:t>&gt;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E0E0E0"/>
                </a:solidFill>
              </a:rPr>
              <a:t> Upper(t-1): 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4D9FFF"/>
                </a:solidFill>
              </a:rPr>
              <a:t>LONG</a:t>
            </a:r>
            <a:endParaRPr lang="en-US" sz="834" dirty="0"/>
          </a:p>
        </p:txBody>
      </p:sp>
      <p:sp>
        <p:nvSpPr>
          <p:cNvPr id="14" name="Text 11"/>
          <p:cNvSpPr/>
          <p:nvPr/>
        </p:nvSpPr>
        <p:spPr>
          <a:xfrm>
            <a:off x="657225" y="2831632"/>
            <a:ext cx="4114800" cy="1828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E0E0E0"/>
                </a:solidFill>
              </a:rPr>
              <a:t>IF Close(t) 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FF4D4D"/>
                </a:solidFill>
              </a:rPr>
              <a:t>&lt;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E0E0E0"/>
                </a:solidFill>
              </a:rPr>
              <a:t> Lower(t-1): 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4D9FFF"/>
                </a:solidFill>
              </a:rPr>
              <a:t>SHORT</a:t>
            </a:r>
            <a:endParaRPr lang="en-US" sz="834" dirty="0"/>
          </a:p>
        </p:txBody>
      </p:sp>
      <p:sp>
        <p:nvSpPr>
          <p:cNvPr id="15" name="Text 12"/>
          <p:cNvSpPr/>
          <p:nvPr/>
        </p:nvSpPr>
        <p:spPr>
          <a:xfrm>
            <a:off x="657225" y="3084147"/>
            <a:ext cx="560756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666666"/>
                </a:solidFill>
              </a:rPr>
              <a:t># 出场信号</a:t>
            </a:r>
            <a:endParaRPr lang="en-US" sz="784" dirty="0"/>
          </a:p>
        </p:txBody>
      </p:sp>
      <p:sp>
        <p:nvSpPr>
          <p:cNvPr id="16" name="Text 13"/>
          <p:cNvSpPr/>
          <p:nvPr/>
        </p:nvSpPr>
        <p:spPr>
          <a:xfrm>
            <a:off x="657225" y="3254508"/>
            <a:ext cx="4114800" cy="1828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E0E0E0"/>
                </a:solidFill>
              </a:rPr>
              <a:t>Long Exit: Close &lt; MIN(Low, 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A5D6A7"/>
                </a:solidFill>
              </a:rPr>
              <a:t>L_exit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E0E0E0"/>
                </a:solidFill>
              </a:rPr>
              <a:t>)</a:t>
            </a:r>
            <a:endParaRPr lang="en-US" sz="834" dirty="0"/>
          </a:p>
        </p:txBody>
      </p:sp>
      <p:sp>
        <p:nvSpPr>
          <p:cNvPr id="17" name="Text 14"/>
          <p:cNvSpPr/>
          <p:nvPr/>
        </p:nvSpPr>
        <p:spPr>
          <a:xfrm>
            <a:off x="657225" y="3437372"/>
            <a:ext cx="4114800" cy="1828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E0E0E0"/>
                </a:solidFill>
              </a:rPr>
              <a:t>Short Exit: Close &gt; MAX(High, 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A5D6A7"/>
                </a:solidFill>
              </a:rPr>
              <a:t>L_exit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E0E0E0"/>
                </a:solidFill>
              </a:rPr>
              <a:t>)</a:t>
            </a:r>
            <a:endParaRPr lang="en-US" sz="834" dirty="0"/>
          </a:p>
        </p:txBody>
      </p:sp>
      <p:sp>
        <p:nvSpPr>
          <p:cNvPr id="18" name="Shape 15"/>
          <p:cNvSpPr/>
          <p:nvPr/>
        </p:nvSpPr>
        <p:spPr>
          <a:xfrm>
            <a:off x="571500" y="3834547"/>
            <a:ext cx="2114550" cy="485775"/>
          </a:xfrm>
          <a:prstGeom prst="rect">
            <a:avLst/>
          </a:prstGeom>
          <a:solidFill>
            <a:srgbClr val="FFFFFF"/>
          </a:solidFill>
          <a:ln w="9144">
            <a:solidFill>
              <a:srgbClr val="DDDDDD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28650" y="3891697"/>
            <a:ext cx="2000250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666666"/>
                </a:solidFill>
              </a:rPr>
              <a:t>L_entry (入场周期)</a:t>
            </a:r>
            <a:endParaRPr lang="en-US" sz="621" dirty="0"/>
          </a:p>
        </p:txBody>
      </p:sp>
      <p:sp>
        <p:nvSpPr>
          <p:cNvPr id="20" name="Text 17"/>
          <p:cNvSpPr/>
          <p:nvPr/>
        </p:nvSpPr>
        <p:spPr>
          <a:xfrm>
            <a:off x="628650" y="4054218"/>
            <a:ext cx="2000250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052CC"/>
                </a:solidFill>
              </a:rPr>
              <a:t>72 </a:t>
            </a:r>
            <a:pPr algn="l" indent="0" marL="0">
              <a:lnSpc>
                <a:spcPts val="1400"/>
              </a:lnSpc>
              <a:buNone/>
            </a:pPr>
            <a:r>
              <a:rPr lang="en-US" sz="727" dirty="0">
                <a:solidFill>
                  <a:srgbClr val="666666"/>
                </a:solidFill>
              </a:rPr>
              <a:t>(6小时)</a:t>
            </a:r>
            <a:endParaRPr lang="en-US" sz="987" dirty="0"/>
          </a:p>
        </p:txBody>
      </p:sp>
      <p:sp>
        <p:nvSpPr>
          <p:cNvPr id="21" name="Shape 18"/>
          <p:cNvSpPr/>
          <p:nvPr/>
        </p:nvSpPr>
        <p:spPr>
          <a:xfrm>
            <a:off x="2743200" y="3834547"/>
            <a:ext cx="2114550" cy="485775"/>
          </a:xfrm>
          <a:prstGeom prst="rect">
            <a:avLst/>
          </a:prstGeom>
          <a:solidFill>
            <a:srgbClr val="FFFFFF"/>
          </a:solidFill>
          <a:ln w="9144">
            <a:solidFill>
              <a:srgbClr val="DDDDDD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2800350" y="3891697"/>
            <a:ext cx="2000250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666666"/>
                </a:solidFill>
              </a:rPr>
              <a:t>L_exit (出场周期)</a:t>
            </a:r>
            <a:endParaRPr lang="en-US" sz="621" dirty="0"/>
          </a:p>
        </p:txBody>
      </p:sp>
      <p:sp>
        <p:nvSpPr>
          <p:cNvPr id="23" name="Text 20"/>
          <p:cNvSpPr/>
          <p:nvPr/>
        </p:nvSpPr>
        <p:spPr>
          <a:xfrm>
            <a:off x="2800350" y="4054218"/>
            <a:ext cx="2000250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052CC"/>
                </a:solidFill>
              </a:rPr>
              <a:t>24 </a:t>
            </a:r>
            <a:pPr algn="l" indent="0" marL="0">
              <a:lnSpc>
                <a:spcPts val="1400"/>
              </a:lnSpc>
              <a:buNone/>
            </a:pPr>
            <a:r>
              <a:rPr lang="en-US" sz="727" dirty="0">
                <a:solidFill>
                  <a:srgbClr val="666666"/>
                </a:solidFill>
              </a:rPr>
              <a:t>(2小时)</a:t>
            </a:r>
            <a:endParaRPr lang="en-US" sz="987" dirty="0"/>
          </a:p>
        </p:txBody>
      </p:sp>
      <p:sp>
        <p:nvSpPr>
          <p:cNvPr id="24" name="Shape 21"/>
          <p:cNvSpPr/>
          <p:nvPr/>
        </p:nvSpPr>
        <p:spPr>
          <a:xfrm>
            <a:off x="5000625" y="1291568"/>
            <a:ext cx="3571875" cy="1428750"/>
          </a:xfrm>
          <a:prstGeom prst="rect">
            <a:avLst/>
          </a:prstGeom>
          <a:solidFill>
            <a:srgbClr val="FFFFFF"/>
          </a:solidFill>
          <a:ln w="9144">
            <a:solidFill>
              <a:srgbClr val="DDDDDD"/>
            </a:solidFill>
            <a:prstDash val="solid"/>
          </a:ln>
        </p:spPr>
      </p:sp>
      <p:pic>
        <p:nvPicPr>
          <p:cNvPr id="2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7496" y="1334430"/>
            <a:ext cx="2558132" cy="1342997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5000625" y="2791755"/>
            <a:ext cx="3571875" cy="289322"/>
          </a:xfrm>
          <a:prstGeom prst="rect">
            <a:avLst/>
          </a:prstGeom>
          <a:noFill/>
          <a:ln/>
        </p:spPr>
        <p:txBody>
          <a:bodyPr wrap="square" lIns="8509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i="1" dirty="0">
                <a:solidFill>
                  <a:srgbClr val="666666"/>
                </a:solidFill>
              </a:rPr>
              <a:t>示意图：价格突破阻力位（上沿）确认趋势启动。策略在突破点跟随入场，在趋势反转触及反向通道时离场。</a:t>
            </a:r>
            <a:endParaRPr lang="en-US" sz="727" dirty="0"/>
          </a:p>
        </p:txBody>
      </p:sp>
      <p:sp>
        <p:nvSpPr>
          <p:cNvPr id="27" name="Shape 23"/>
          <p:cNvSpPr/>
          <p:nvPr/>
        </p:nvSpPr>
        <p:spPr>
          <a:xfrm>
            <a:off x="5000625" y="3152515"/>
            <a:ext cx="3571875" cy="642938"/>
          </a:xfrm>
          <a:prstGeom prst="rect">
            <a:avLst/>
          </a:prstGeom>
          <a:solidFill>
            <a:srgbClr val="E3F2FD"/>
          </a:solidFill>
          <a:ln/>
        </p:spPr>
      </p:sp>
      <p:sp>
        <p:nvSpPr>
          <p:cNvPr id="28" name="Shape 24"/>
          <p:cNvSpPr/>
          <p:nvPr/>
        </p:nvSpPr>
        <p:spPr>
          <a:xfrm>
            <a:off x="5000625" y="3152515"/>
            <a:ext cx="28575" cy="642938"/>
          </a:xfrm>
          <a:prstGeom prst="rect">
            <a:avLst/>
          </a:prstGeom>
          <a:solidFill>
            <a:srgbClr val="0052CC"/>
          </a:solidFill>
          <a:ln/>
        </p:spPr>
      </p:sp>
      <p:sp>
        <p:nvSpPr>
          <p:cNvPr id="29" name="Text 25"/>
          <p:cNvSpPr/>
          <p:nvPr/>
        </p:nvSpPr>
        <p:spPr>
          <a:xfrm>
            <a:off x="5057775" y="3209665"/>
            <a:ext cx="3457575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0052CC"/>
                </a:solidFill>
              </a:rPr>
              <a:t>为什么使用5分钟Bar？</a:t>
            </a:r>
            <a:endParaRPr lang="en-US" sz="784" dirty="0"/>
          </a:p>
        </p:txBody>
      </p:sp>
      <p:sp>
        <p:nvSpPr>
          <p:cNvPr id="30" name="Text 26"/>
          <p:cNvSpPr/>
          <p:nvPr/>
        </p:nvSpPr>
        <p:spPr>
          <a:xfrm>
            <a:off x="5057775" y="3409690"/>
            <a:ext cx="3457575" cy="3286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相比1分钟数据，5分钟聚合K线能有效过滤盘口微观噪声，提高突破信号的信噪比，同时保留足够的入场时效性。</a:t>
            </a:r>
            <a:endParaRPr lang="en-US" sz="834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28625" y="428625"/>
            <a:ext cx="8286750" cy="720068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428625" y="428625"/>
            <a:ext cx="42863" cy="720068"/>
          </a:xfrm>
          <a:prstGeom prst="rect">
            <a:avLst/>
          </a:prstGeom>
          <a:solidFill>
            <a:srgbClr val="FF4D4D"/>
          </a:solidFill>
          <a:ln/>
        </p:spPr>
      </p:sp>
      <p:sp>
        <p:nvSpPr>
          <p:cNvPr id="5" name="Text 2"/>
          <p:cNvSpPr/>
          <p:nvPr/>
        </p:nvSpPr>
        <p:spPr>
          <a:xfrm>
            <a:off x="642938" y="428625"/>
            <a:ext cx="8072438" cy="7200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121" b="1" dirty="0">
                <a:solidFill>
                  <a:srgbClr val="1A1D21"/>
                </a:solidFill>
              </a:rPr>
              <a:t>ATR波动率因子是回撤控制的</a:t>
            </a:r>
            <a:pPr algn="l" indent="0" marL="0">
              <a:lnSpc>
                <a:spcPts val="2800"/>
              </a:lnSpc>
              <a:buNone/>
            </a:pPr>
            <a:r>
              <a:rPr lang="en-US" sz="2121" b="1" dirty="0">
                <a:solidFill>
                  <a:srgbClr val="1A1D21"/>
                </a:solidFill>
              </a:rPr>
              <a:t>
</a:t>
            </a:r>
            <a:pPr algn="l" indent="0" marL="0">
              <a:lnSpc>
                <a:spcPts val="2800"/>
              </a:lnSpc>
              <a:buNone/>
            </a:pPr>
            <a:r>
              <a:rPr lang="en-US" sz="2121" b="1" dirty="0">
                <a:solidFill>
                  <a:srgbClr val="1A1D21"/>
                </a:solidFill>
              </a:rPr>
              <a:t>核心机制</a:t>
            </a:r>
            <a:endParaRPr lang="en-US" sz="2121" dirty="0"/>
          </a:p>
        </p:txBody>
      </p:sp>
      <p:sp>
        <p:nvSpPr>
          <p:cNvPr id="6" name="Text 3"/>
          <p:cNvSpPr/>
          <p:nvPr/>
        </p:nvSpPr>
        <p:spPr>
          <a:xfrm>
            <a:off x="428625" y="1320143"/>
            <a:ext cx="4000500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A1D21"/>
                </a:solidFill>
              </a:rPr>
              <a:t>01. 波动率缩放 (Volatility Scaling)</a:t>
            </a:r>
            <a:endParaRPr lang="en-US" sz="987" dirty="0"/>
          </a:p>
        </p:txBody>
      </p:sp>
      <p:sp>
        <p:nvSpPr>
          <p:cNvPr id="7" name="Text 4"/>
          <p:cNvSpPr/>
          <p:nvPr/>
        </p:nvSpPr>
        <p:spPr>
          <a:xfrm>
            <a:off x="428625" y="1598749"/>
            <a:ext cx="4000500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just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333840"/>
                </a:solidFill>
              </a:rPr>
              <a:t>分钟级CTA必须根据市场状态动态调整仓位。在Crypto市场，波动率剧烈变化，固定仓位会导致不可控的回撤。</a:t>
            </a:r>
            <a:endParaRPr lang="en-US" sz="942" dirty="0"/>
          </a:p>
        </p:txBody>
      </p:sp>
      <p:sp>
        <p:nvSpPr>
          <p:cNvPr id="8" name="Shape 5"/>
          <p:cNvSpPr/>
          <p:nvPr/>
        </p:nvSpPr>
        <p:spPr>
          <a:xfrm>
            <a:off x="428625" y="2155961"/>
            <a:ext cx="4000500" cy="62150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Shape 6"/>
          <p:cNvSpPr/>
          <p:nvPr/>
        </p:nvSpPr>
        <p:spPr>
          <a:xfrm>
            <a:off x="428625" y="2155961"/>
            <a:ext cx="28575" cy="621506"/>
          </a:xfrm>
          <a:prstGeom prst="rect">
            <a:avLst/>
          </a:prstGeom>
          <a:solidFill>
            <a:srgbClr val="1A1D21"/>
          </a:solidFill>
          <a:ln/>
        </p:spPr>
      </p:sp>
      <p:sp>
        <p:nvSpPr>
          <p:cNvPr id="10" name="Text 7"/>
          <p:cNvSpPr/>
          <p:nvPr/>
        </p:nvSpPr>
        <p:spPr>
          <a:xfrm>
            <a:off x="528638" y="2255974"/>
            <a:ext cx="1856984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052CC"/>
                </a:solidFill>
              </a:rPr>
              <a:t>ATR_t</a:t>
            </a:r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333840"/>
                </a:solidFill>
              </a:rPr>
              <a:t> = EMA(TrueRange, n=72)</a:t>
            </a:r>
            <a:endParaRPr lang="en-US" sz="885" dirty="0"/>
          </a:p>
        </p:txBody>
      </p:sp>
      <p:sp>
        <p:nvSpPr>
          <p:cNvPr id="11" name="Text 8"/>
          <p:cNvSpPr/>
          <p:nvPr/>
        </p:nvSpPr>
        <p:spPr>
          <a:xfrm>
            <a:off x="3781220" y="2271154"/>
            <a:ext cx="547892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888888"/>
                </a:solidFill>
              </a:rPr>
              <a:t># 6小时周期</a:t>
            </a:r>
            <a:endParaRPr lang="en-US" sz="727" dirty="0"/>
          </a:p>
        </p:txBody>
      </p:sp>
      <p:sp>
        <p:nvSpPr>
          <p:cNvPr id="12" name="Text 9"/>
          <p:cNvSpPr/>
          <p:nvPr/>
        </p:nvSpPr>
        <p:spPr>
          <a:xfrm>
            <a:off x="528638" y="2502433"/>
            <a:ext cx="1490756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052CC"/>
                </a:solidFill>
              </a:rPr>
              <a:t>sigma_t</a:t>
            </a:r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333840"/>
                </a:solidFill>
              </a:rPr>
              <a:t> = ATR_t / close_t</a:t>
            </a:r>
            <a:endParaRPr lang="en-US" sz="885" dirty="0"/>
          </a:p>
        </p:txBody>
      </p:sp>
      <p:sp>
        <p:nvSpPr>
          <p:cNvPr id="13" name="Text 10"/>
          <p:cNvSpPr/>
          <p:nvPr/>
        </p:nvSpPr>
        <p:spPr>
          <a:xfrm>
            <a:off x="3638401" y="2517614"/>
            <a:ext cx="690711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888888"/>
                </a:solidFill>
              </a:rPr>
              <a:t># 标准化波动率</a:t>
            </a:r>
            <a:endParaRPr lang="en-US" sz="727" dirty="0"/>
          </a:p>
        </p:txBody>
      </p:sp>
      <p:sp>
        <p:nvSpPr>
          <p:cNvPr id="14" name="Text 11"/>
          <p:cNvSpPr/>
          <p:nvPr/>
        </p:nvSpPr>
        <p:spPr>
          <a:xfrm>
            <a:off x="428625" y="2906055"/>
            <a:ext cx="4000500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A1D21"/>
                </a:solidFill>
              </a:rPr>
              <a:t>02. 风险逆向机制</a:t>
            </a:r>
            <a:endParaRPr lang="en-US" sz="987" dirty="0"/>
          </a:p>
        </p:txBody>
      </p:sp>
      <p:sp>
        <p:nvSpPr>
          <p:cNvPr id="15" name="Text 12"/>
          <p:cNvSpPr/>
          <p:nvPr/>
        </p:nvSpPr>
        <p:spPr>
          <a:xfrm>
            <a:off x="428625" y="3184661"/>
            <a:ext cx="4000500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just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333840"/>
                </a:solidFill>
              </a:rPr>
              <a:t>仓位与波动率成反比关系。当市场恐慌（ATR飙升）时，策略自动降低仓位；当市场平稳时，策略提高仓位以充分利用资金。</a:t>
            </a:r>
            <a:endParaRPr lang="en-US" sz="942" dirty="0"/>
          </a:p>
        </p:txBody>
      </p:sp>
      <p:sp>
        <p:nvSpPr>
          <p:cNvPr id="16" name="Shape 13"/>
          <p:cNvSpPr/>
          <p:nvPr/>
        </p:nvSpPr>
        <p:spPr>
          <a:xfrm>
            <a:off x="4714875" y="1320143"/>
            <a:ext cx="4000500" cy="2143125"/>
          </a:xfrm>
          <a:prstGeom prst="rect">
            <a:avLst/>
          </a:prstGeom>
          <a:solidFill>
            <a:srgbClr val="FFFFFF"/>
          </a:solidFill>
          <a:ln w="9144">
            <a:solidFill>
              <a:srgbClr val="E0E0E0"/>
            </a:solidFill>
            <a:prstDash val="solid"/>
          </a:ln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2025" y="1461260"/>
            <a:ext cx="3886200" cy="1860891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4714875" y="4013002"/>
            <a:ext cx="4000500" cy="844748"/>
          </a:xfrm>
          <a:prstGeom prst="rect">
            <a:avLst/>
          </a:prstGeom>
          <a:solidFill>
            <a:srgbClr val="1A1D21"/>
          </a:solidFill>
          <a:ln/>
        </p:spPr>
      </p:sp>
      <p:sp>
        <p:nvSpPr>
          <p:cNvPr id="19" name="Text 15"/>
          <p:cNvSpPr/>
          <p:nvPr/>
        </p:nvSpPr>
        <p:spPr>
          <a:xfrm>
            <a:off x="4829175" y="4127302"/>
            <a:ext cx="3771900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4D4D"/>
                </a:solidFill>
              </a:rPr>
              <a:t>核心逻辑</a:t>
            </a:r>
            <a:endParaRPr lang="en-US" sz="683" dirty="0"/>
          </a:p>
        </p:txBody>
      </p:sp>
      <p:sp>
        <p:nvSpPr>
          <p:cNvPr id="20" name="Text 16"/>
          <p:cNvSpPr/>
          <p:nvPr/>
        </p:nvSpPr>
        <p:spPr>
          <a:xfrm>
            <a:off x="4829175" y="4343400"/>
            <a:ext cx="37719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87" b="1" dirty="0">
                <a:solidFill>
                  <a:srgbClr val="FFFFFF"/>
                </a:solidFill>
              </a:rPr>
              <a:t>波动率决定规模，趋势决定方向。</a:t>
            </a:r>
            <a:pPr algn="l" indent="0" marL="0">
              <a:lnSpc>
                <a:spcPts val="1600"/>
              </a:lnSpc>
              <a:buNone/>
            </a:pPr>
            <a:r>
              <a:rPr lang="en-US" sz="987" b="1" dirty="0">
                <a:solidFill>
                  <a:srgbClr val="FFFFFF"/>
                </a:solidFill>
              </a:rPr>
              <a:t>
</a:t>
            </a:r>
            <a:pPr algn="l" indent="0" marL="0">
              <a:lnSpc>
                <a:spcPts val="1600"/>
              </a:lnSpc>
              <a:buNone/>
            </a:pPr>
            <a:r>
              <a:rPr lang="en-US" sz="987" b="1" dirty="0">
                <a:solidFill>
                  <a:srgbClr val="FFFFFF"/>
                </a:solidFill>
              </a:rPr>
              <a:t> Risk determines Size, Trend determines Direction.</a:t>
            </a:r>
            <a:endParaRPr lang="en-US" sz="987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428625"/>
            <a:ext cx="8001000" cy="720068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571500" y="428625"/>
            <a:ext cx="42863" cy="720068"/>
          </a:xfrm>
          <a:prstGeom prst="rect">
            <a:avLst/>
          </a:prstGeom>
          <a:solidFill>
            <a:srgbClr val="0052CC"/>
          </a:solidFill>
          <a:ln/>
        </p:spPr>
      </p:sp>
      <p:sp>
        <p:nvSpPr>
          <p:cNvPr id="5" name="Text 2"/>
          <p:cNvSpPr/>
          <p:nvPr/>
        </p:nvSpPr>
        <p:spPr>
          <a:xfrm>
            <a:off x="785813" y="428625"/>
            <a:ext cx="7786688" cy="7200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121" b="1" dirty="0">
                <a:solidFill>
                  <a:srgbClr val="1A1D21"/>
                </a:solidFill>
              </a:rPr>
              <a:t>Vol Targeting实现组合层面的</a:t>
            </a:r>
            <a:pPr algn="l" indent="0" marL="0">
              <a:lnSpc>
                <a:spcPts val="2800"/>
              </a:lnSpc>
              <a:buNone/>
            </a:pPr>
            <a:r>
              <a:rPr lang="en-US" sz="2121" b="1" dirty="0">
                <a:solidFill>
                  <a:srgbClr val="1A1D21"/>
                </a:solidFill>
              </a:rPr>
              <a:t>
</a:t>
            </a:r>
            <a:pPr algn="l" indent="0" marL="0">
              <a:lnSpc>
                <a:spcPts val="2800"/>
              </a:lnSpc>
              <a:buNone/>
            </a:pPr>
            <a:r>
              <a:rPr lang="en-US" sz="2121" b="1" dirty="0">
                <a:solidFill>
                  <a:srgbClr val="1A1D21"/>
                </a:solidFill>
              </a:rPr>
              <a:t>风险目标控制</a:t>
            </a:r>
            <a:endParaRPr lang="en-US" sz="2121" dirty="0"/>
          </a:p>
        </p:txBody>
      </p:sp>
      <p:sp>
        <p:nvSpPr>
          <p:cNvPr id="6" name="Text 3"/>
          <p:cNvSpPr/>
          <p:nvPr/>
        </p:nvSpPr>
        <p:spPr>
          <a:xfrm>
            <a:off x="571500" y="1363005"/>
            <a:ext cx="4500535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spc="1" kern="0" dirty="0">
                <a:solidFill>
                  <a:srgbClr val="0052CC"/>
                </a:solidFill>
              </a:rPr>
              <a:t>核心机制</a:t>
            </a:r>
            <a:endParaRPr lang="en-US" sz="987" dirty="0"/>
          </a:p>
        </p:txBody>
      </p:sp>
      <p:sp>
        <p:nvSpPr>
          <p:cNvPr id="7" name="Text 4"/>
          <p:cNvSpPr/>
          <p:nvPr/>
        </p:nvSpPr>
        <p:spPr>
          <a:xfrm>
            <a:off x="571500" y="1655899"/>
            <a:ext cx="4500535" cy="480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269" dirty="0">
                <a:solidFill>
                  <a:srgbClr val="1A1D21"/>
                </a:solidFill>
              </a:rPr>
              <a:t>趋势因子决定</a:t>
            </a:r>
            <a:pPr algn="l" indent="0" marL="0">
              <a:lnSpc>
                <a:spcPts val="1900"/>
              </a:lnSpc>
              <a:buNone/>
            </a:pPr>
            <a:r>
              <a:rPr lang="en-US" sz="1193" b="1" dirty="0">
                <a:solidFill>
                  <a:srgbClr val="1A1D21"/>
                </a:solidFill>
              </a:rPr>
              <a:t>方向</a:t>
            </a:r>
            <a:pPr algn="l" indent="0" marL="0">
              <a:lnSpc>
                <a:spcPts val="1900"/>
              </a:lnSpc>
              <a:buNone/>
            </a:pPr>
            <a:r>
              <a:rPr lang="en-US" sz="1269" dirty="0">
                <a:solidFill>
                  <a:srgbClr val="1A1D21"/>
                </a:solidFill>
              </a:rPr>
              <a:t> (+1 / -1)</a:t>
            </a:r>
            <a:pPr algn="l" indent="0" marL="0">
              <a:lnSpc>
                <a:spcPts val="1900"/>
              </a:lnSpc>
              <a:buNone/>
            </a:pPr>
            <a:r>
              <a:rPr lang="en-US" sz="1269" dirty="0">
                <a:solidFill>
                  <a:srgbClr val="1A1D21"/>
                </a:solidFill>
              </a:rPr>
              <a:t>
</a:t>
            </a:r>
            <a:pPr algn="l" indent="0" marL="0">
              <a:lnSpc>
                <a:spcPts val="1900"/>
              </a:lnSpc>
              <a:buNone/>
            </a:pPr>
            <a:r>
              <a:rPr lang="en-US" sz="1269" dirty="0">
                <a:solidFill>
                  <a:srgbClr val="1A1D21"/>
                </a:solidFill>
              </a:rPr>
              <a:t> 波动率因子决定</a:t>
            </a:r>
            <a:pPr algn="l" indent="0" marL="0">
              <a:lnSpc>
                <a:spcPts val="1900"/>
              </a:lnSpc>
              <a:buNone/>
            </a:pPr>
            <a:r>
              <a:rPr lang="en-US" sz="1193" b="1" dirty="0">
                <a:solidFill>
                  <a:srgbClr val="1A1D21"/>
                </a:solidFill>
              </a:rPr>
              <a:t>规模</a:t>
            </a:r>
            <a:pPr algn="l" indent="0" marL="0">
              <a:lnSpc>
                <a:spcPts val="1900"/>
              </a:lnSpc>
              <a:buNone/>
            </a:pPr>
            <a:r>
              <a:rPr lang="en-US" sz="1269" dirty="0">
                <a:solidFill>
                  <a:srgbClr val="1A1D21"/>
                </a:solidFill>
              </a:rPr>
              <a:t> (Size)</a:t>
            </a:r>
            <a:endParaRPr lang="en-US" sz="1269" dirty="0"/>
          </a:p>
        </p:txBody>
      </p:sp>
      <p:sp>
        <p:nvSpPr>
          <p:cNvPr id="8" name="Shape 5"/>
          <p:cNvSpPr/>
          <p:nvPr/>
        </p:nvSpPr>
        <p:spPr>
          <a:xfrm>
            <a:off x="571500" y="2357382"/>
            <a:ext cx="4500535" cy="1511740"/>
          </a:xfrm>
          <a:prstGeom prst="rect">
            <a:avLst/>
          </a:prstGeom>
          <a:solidFill>
            <a:srgbClr val="1A1D21"/>
          </a:solidFill>
          <a:ln/>
        </p:spPr>
      </p:sp>
      <p:sp>
        <p:nvSpPr>
          <p:cNvPr id="9" name="Shape 6"/>
          <p:cNvSpPr/>
          <p:nvPr/>
        </p:nvSpPr>
        <p:spPr>
          <a:xfrm>
            <a:off x="714375" y="2285944"/>
            <a:ext cx="973336" cy="87511"/>
          </a:xfrm>
          <a:prstGeom prst="rect">
            <a:avLst/>
          </a:prstGeom>
          <a:solidFill>
            <a:srgbClr val="0052CC"/>
          </a:solidFill>
          <a:ln/>
        </p:spPr>
      </p:sp>
      <p:sp>
        <p:nvSpPr>
          <p:cNvPr id="10" name="Text 7"/>
          <p:cNvSpPr/>
          <p:nvPr/>
        </p:nvSpPr>
        <p:spPr>
          <a:xfrm>
            <a:off x="714375" y="2285944"/>
            <a:ext cx="973336" cy="87511"/>
          </a:xfrm>
          <a:prstGeom prst="rect">
            <a:avLst/>
          </a:prstGeom>
          <a:noFill/>
          <a:ln/>
        </p:spPr>
        <p:txBody>
          <a:bodyPr wrap="none" lIns="68072" tIns="34036" rIns="68072" bIns="34036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485" b="1" dirty="0">
                <a:solidFill>
                  <a:srgbClr val="FFFFFF"/>
                </a:solidFill>
              </a:rPr>
              <a:t>POSITION SIZING FORMULA</a:t>
            </a:r>
            <a:endParaRPr lang="en-US" sz="485" dirty="0"/>
          </a:p>
        </p:txBody>
      </p:sp>
      <p:sp>
        <p:nvSpPr>
          <p:cNvPr id="11" name="Text 8"/>
          <p:cNvSpPr/>
          <p:nvPr/>
        </p:nvSpPr>
        <p:spPr>
          <a:xfrm>
            <a:off x="714375" y="2500257"/>
            <a:ext cx="4214785" cy="2748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159" dirty="0">
                <a:solidFill>
                  <a:srgbClr val="FFFFFF"/>
                </a:solidFill>
              </a:rPr>
              <a:t>w</a:t>
            </a:r>
            <a:pPr algn="l" indent="0" marL="0">
              <a:lnSpc>
                <a:spcPts val="2000"/>
              </a:lnSpc>
              <a:buNone/>
            </a:pPr>
            <a:r>
              <a:rPr lang="en-US" sz="959" baseline="-40000" dirty="0">
                <a:solidFill>
                  <a:srgbClr val="FFFFFF"/>
                </a:solidFill>
              </a:rPr>
              <a:t>i,t</a:t>
            </a:r>
            <a:pPr algn="l" indent="0" marL="0">
              <a:lnSpc>
                <a:spcPts val="2000"/>
              </a:lnSpc>
              <a:buNone/>
            </a:pPr>
            <a:r>
              <a:rPr lang="en-US" sz="1159" dirty="0">
                <a:solidFill>
                  <a:srgbClr val="FFFFFF"/>
                </a:solidFill>
              </a:rPr>
              <a:t> = clip( k / σ</a:t>
            </a:r>
            <a:pPr algn="l" indent="0" marL="0">
              <a:lnSpc>
                <a:spcPts val="2000"/>
              </a:lnSpc>
              <a:buNone/>
            </a:pPr>
            <a:r>
              <a:rPr lang="en-US" sz="959" baseline="-40000" dirty="0">
                <a:solidFill>
                  <a:srgbClr val="FFFFFF"/>
                </a:solidFill>
              </a:rPr>
              <a:t>i,t</a:t>
            </a:r>
            <a:pPr algn="l" indent="0" marL="0">
              <a:lnSpc>
                <a:spcPts val="2000"/>
              </a:lnSpc>
              <a:buNone/>
            </a:pPr>
            <a:r>
              <a:rPr lang="en-US" sz="1159" dirty="0">
                <a:solidFill>
                  <a:srgbClr val="FFFFFF"/>
                </a:solidFill>
              </a:rPr>
              <a:t>, 0, w</a:t>
            </a:r>
            <a:pPr algn="l" indent="0" marL="0">
              <a:lnSpc>
                <a:spcPts val="2000"/>
              </a:lnSpc>
              <a:buNone/>
            </a:pPr>
            <a:r>
              <a:rPr lang="en-US" sz="959" baseline="-40000" dirty="0">
                <a:solidFill>
                  <a:srgbClr val="FFFFFF"/>
                </a:solidFill>
              </a:rPr>
              <a:t>max</a:t>
            </a:r>
            <a:pPr algn="l" indent="0" marL="0">
              <a:lnSpc>
                <a:spcPts val="2000"/>
              </a:lnSpc>
              <a:buNone/>
            </a:pPr>
            <a:r>
              <a:rPr lang="en-US" sz="1159" dirty="0">
                <a:solidFill>
                  <a:srgbClr val="FFFFFF"/>
                </a:solidFill>
              </a:rPr>
              <a:t> ) × dir</a:t>
            </a:r>
            <a:pPr algn="l" indent="0" marL="0">
              <a:lnSpc>
                <a:spcPts val="2000"/>
              </a:lnSpc>
              <a:buNone/>
            </a:pPr>
            <a:r>
              <a:rPr lang="en-US" sz="959" baseline="-40000" dirty="0">
                <a:solidFill>
                  <a:srgbClr val="FFFFFF"/>
                </a:solidFill>
              </a:rPr>
              <a:t>i,t</a:t>
            </a:r>
            <a:endParaRPr lang="en-US" sz="1159" dirty="0"/>
          </a:p>
        </p:txBody>
      </p:sp>
      <p:sp>
        <p:nvSpPr>
          <p:cNvPr id="12" name="Text 9"/>
          <p:cNvSpPr/>
          <p:nvPr/>
        </p:nvSpPr>
        <p:spPr>
          <a:xfrm>
            <a:off x="714375" y="2982292"/>
            <a:ext cx="152558" cy="1521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888888"/>
                </a:solidFill>
              </a:rPr>
              <a:t>w</a:t>
            </a:r>
            <a:pPr algn="l" indent="0" marL="0">
              <a:lnSpc>
                <a:spcPts val="900"/>
              </a:lnSpc>
              <a:buNone/>
            </a:pPr>
            <a:r>
              <a:rPr lang="en-US" sz="604" baseline="-40000" dirty="0">
                <a:solidFill>
                  <a:srgbClr val="888888"/>
                </a:solidFill>
              </a:rPr>
              <a:t>i,t</a:t>
            </a:r>
            <a:endParaRPr lang="en-US" sz="727" dirty="0"/>
          </a:p>
        </p:txBody>
      </p:sp>
      <p:sp>
        <p:nvSpPr>
          <p:cNvPr id="13" name="Text 10"/>
          <p:cNvSpPr/>
          <p:nvPr/>
        </p:nvSpPr>
        <p:spPr>
          <a:xfrm>
            <a:off x="4329085" y="2982292"/>
            <a:ext cx="600075" cy="1521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888888"/>
                </a:solidFill>
              </a:rPr>
              <a:t>目标仓位权重</a:t>
            </a:r>
            <a:endParaRPr lang="en-US" sz="727" dirty="0"/>
          </a:p>
        </p:txBody>
      </p:sp>
      <p:sp>
        <p:nvSpPr>
          <p:cNvPr id="14" name="Text 11"/>
          <p:cNvSpPr/>
          <p:nvPr/>
        </p:nvSpPr>
        <p:spPr>
          <a:xfrm>
            <a:off x="714375" y="3170151"/>
            <a:ext cx="135648" cy="1521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888888"/>
                </a:solidFill>
              </a:rPr>
              <a:t>σ</a:t>
            </a:r>
            <a:pPr algn="l" indent="0" marL="0">
              <a:lnSpc>
                <a:spcPts val="900"/>
              </a:lnSpc>
              <a:buNone/>
            </a:pPr>
            <a:r>
              <a:rPr lang="en-US" sz="604" baseline="-40000" dirty="0">
                <a:solidFill>
                  <a:srgbClr val="888888"/>
                </a:solidFill>
              </a:rPr>
              <a:t>i,t</a:t>
            </a:r>
            <a:endParaRPr lang="en-US" sz="727" dirty="0"/>
          </a:p>
        </p:txBody>
      </p:sp>
      <p:sp>
        <p:nvSpPr>
          <p:cNvPr id="15" name="Text 12"/>
          <p:cNvSpPr/>
          <p:nvPr/>
        </p:nvSpPr>
        <p:spPr>
          <a:xfrm>
            <a:off x="3799108" y="3170151"/>
            <a:ext cx="1130052" cy="1521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888888"/>
                </a:solidFill>
              </a:rPr>
              <a:t>标准化波动率 (ATR/Price)</a:t>
            </a:r>
            <a:endParaRPr lang="en-US" sz="727" dirty="0"/>
          </a:p>
        </p:txBody>
      </p:sp>
      <p:sp>
        <p:nvSpPr>
          <p:cNvPr id="16" name="Text 13"/>
          <p:cNvSpPr/>
          <p:nvPr/>
        </p:nvSpPr>
        <p:spPr>
          <a:xfrm>
            <a:off x="714375" y="3358009"/>
            <a:ext cx="53411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888888"/>
                </a:solidFill>
              </a:rPr>
              <a:t>k</a:t>
            </a:r>
            <a:endParaRPr lang="en-US" sz="727" dirty="0"/>
          </a:p>
        </p:txBody>
      </p:sp>
      <p:sp>
        <p:nvSpPr>
          <p:cNvPr id="17" name="Text 14"/>
          <p:cNvSpPr/>
          <p:nvPr/>
        </p:nvSpPr>
        <p:spPr>
          <a:xfrm>
            <a:off x="4229072" y="3358009"/>
            <a:ext cx="700088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888888"/>
                </a:solidFill>
              </a:rPr>
              <a:t>波动率缩放系数</a:t>
            </a:r>
            <a:endParaRPr lang="en-US" sz="727" dirty="0"/>
          </a:p>
        </p:txBody>
      </p:sp>
      <p:sp>
        <p:nvSpPr>
          <p:cNvPr id="18" name="Text 15"/>
          <p:cNvSpPr/>
          <p:nvPr/>
        </p:nvSpPr>
        <p:spPr>
          <a:xfrm>
            <a:off x="714375" y="3538389"/>
            <a:ext cx="202564" cy="1521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888888"/>
                </a:solidFill>
              </a:rPr>
              <a:t>dir</a:t>
            </a:r>
            <a:pPr algn="l" indent="0" marL="0">
              <a:lnSpc>
                <a:spcPts val="900"/>
              </a:lnSpc>
              <a:buNone/>
            </a:pPr>
            <a:r>
              <a:rPr lang="en-US" sz="604" baseline="-40000" dirty="0">
                <a:solidFill>
                  <a:srgbClr val="888888"/>
                </a:solidFill>
              </a:rPr>
              <a:t>i,t</a:t>
            </a:r>
            <a:endParaRPr lang="en-US" sz="727" dirty="0"/>
          </a:p>
        </p:txBody>
      </p:sp>
      <p:sp>
        <p:nvSpPr>
          <p:cNvPr id="19" name="Text 16"/>
          <p:cNvSpPr/>
          <p:nvPr/>
        </p:nvSpPr>
        <p:spPr>
          <a:xfrm>
            <a:off x="3907631" y="3538389"/>
            <a:ext cx="1021528" cy="1521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888888"/>
                </a:solidFill>
              </a:rPr>
              <a:t>趋势方向信号 (+1/-1/0)</a:t>
            </a:r>
            <a:endParaRPr lang="en-US" sz="727" dirty="0"/>
          </a:p>
        </p:txBody>
      </p:sp>
      <p:sp>
        <p:nvSpPr>
          <p:cNvPr id="20" name="Text 17"/>
          <p:cNvSpPr/>
          <p:nvPr/>
        </p:nvSpPr>
        <p:spPr>
          <a:xfrm>
            <a:off x="571500" y="3997709"/>
            <a:ext cx="4500535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spc="1" kern="0" dirty="0">
                <a:solidFill>
                  <a:srgbClr val="0052CC"/>
                </a:solidFill>
              </a:rPr>
              <a:t>动态调整逻辑</a:t>
            </a:r>
            <a:endParaRPr lang="en-US" sz="987" dirty="0"/>
          </a:p>
        </p:txBody>
      </p:sp>
      <p:sp>
        <p:nvSpPr>
          <p:cNvPr id="21" name="Text 18"/>
          <p:cNvSpPr/>
          <p:nvPr/>
        </p:nvSpPr>
        <p:spPr>
          <a:xfrm>
            <a:off x="571500" y="4290603"/>
            <a:ext cx="4500535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1A1D21"/>
                </a:solidFill>
              </a:rPr>
              <a:t>仓位与波动率成反比。</a:t>
            </a:r>
            <a:pPr algn="l"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1A1D21"/>
                </a:solidFill>
              </a:rPr>
              <a:t>
</a:t>
            </a:r>
            <a:pPr algn="l"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1A1D21"/>
                </a:solidFill>
              </a:rPr>
              <a:t> 市场波动加剧 → 自动减仓</a:t>
            </a:r>
            <a:pPr algn="l"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1A1D21"/>
                </a:solidFill>
              </a:rPr>
              <a:t>
</a:t>
            </a:r>
            <a:pPr algn="l"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1A1D21"/>
                </a:solidFill>
              </a:rPr>
              <a:t> 市场趋于平稳 → 自动加仓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5357785" y="1363005"/>
            <a:ext cx="3214688" cy="3780495"/>
          </a:xfrm>
          <a:prstGeom prst="rect">
            <a:avLst/>
          </a:prstGeom>
          <a:solidFill>
            <a:srgbClr val="FFFFFF"/>
          </a:solidFill>
          <a:ln w="9144">
            <a:solidFill>
              <a:srgbClr val="E0E0E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500660" y="1505880"/>
            <a:ext cx="2928938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666666"/>
                </a:solidFill>
              </a:rPr>
              <a:t>Target Portfolio Volatility</a:t>
            </a:r>
            <a:endParaRPr lang="en-US" sz="834" dirty="0"/>
          </a:p>
        </p:txBody>
      </p:sp>
      <p:sp>
        <p:nvSpPr>
          <p:cNvPr id="24" name="Text 21"/>
          <p:cNvSpPr/>
          <p:nvPr/>
        </p:nvSpPr>
        <p:spPr>
          <a:xfrm>
            <a:off x="5500660" y="1704119"/>
            <a:ext cx="2928938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294" b="1" spc="-1" kern="0" dirty="0">
                <a:solidFill>
                  <a:srgbClr val="0052CC"/>
                </a:solidFill>
              </a:rPr>
              <a:t>12%</a:t>
            </a:r>
            <a:endParaRPr lang="en-US" sz="3294" dirty="0"/>
          </a:p>
        </p:txBody>
      </p:sp>
      <p:sp>
        <p:nvSpPr>
          <p:cNvPr id="25" name="Text 22"/>
          <p:cNvSpPr/>
          <p:nvPr/>
        </p:nvSpPr>
        <p:spPr>
          <a:xfrm>
            <a:off x="5500660" y="2204182"/>
            <a:ext cx="2928938" cy="28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333840"/>
                </a:solidFill>
              </a:rPr>
              <a:t>组合年化波动率目标。在保持进攻性的同时，确保回撤可控 (对应月波动率 ~3.5%)。</a:t>
            </a:r>
            <a:endParaRPr lang="en-US" sz="727" dirty="0"/>
          </a:p>
        </p:txBody>
      </p:sp>
      <p:sp>
        <p:nvSpPr>
          <p:cNvPr id="26" name="Text 23"/>
          <p:cNvSpPr/>
          <p:nvPr/>
        </p:nvSpPr>
        <p:spPr>
          <a:xfrm>
            <a:off x="5500660" y="2777077"/>
            <a:ext cx="2928938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666666"/>
                </a:solidFill>
              </a:rPr>
              <a:t>Max Symbol Weight</a:t>
            </a:r>
            <a:endParaRPr lang="en-US" sz="834" dirty="0"/>
          </a:p>
        </p:txBody>
      </p:sp>
      <p:sp>
        <p:nvSpPr>
          <p:cNvPr id="27" name="Text 24"/>
          <p:cNvSpPr/>
          <p:nvPr/>
        </p:nvSpPr>
        <p:spPr>
          <a:xfrm>
            <a:off x="5500660" y="2975316"/>
            <a:ext cx="2928938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294" b="1" spc="-1" kern="0" dirty="0">
                <a:solidFill>
                  <a:srgbClr val="1A1D21"/>
                </a:solidFill>
              </a:rPr>
              <a:t>0.6</a:t>
            </a:r>
            <a:endParaRPr lang="en-US" sz="3294" dirty="0"/>
          </a:p>
        </p:txBody>
      </p:sp>
      <p:sp>
        <p:nvSpPr>
          <p:cNvPr id="28" name="Text 25"/>
          <p:cNvSpPr/>
          <p:nvPr/>
        </p:nvSpPr>
        <p:spPr>
          <a:xfrm>
            <a:off x="5500660" y="3475379"/>
            <a:ext cx="2928938" cy="28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333840"/>
                </a:solidFill>
              </a:rPr>
              <a:t>单币种权重上限 (w_max)。防止单一标的风险过度集中，即使在低波动时期。</a:t>
            </a:r>
            <a:endParaRPr lang="en-US" sz="727" dirty="0"/>
          </a:p>
        </p:txBody>
      </p:sp>
      <p:sp>
        <p:nvSpPr>
          <p:cNvPr id="29" name="Text 26"/>
          <p:cNvSpPr/>
          <p:nvPr/>
        </p:nvSpPr>
        <p:spPr>
          <a:xfrm>
            <a:off x="5500660" y="4048274"/>
            <a:ext cx="2928938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666666"/>
                </a:solidFill>
              </a:rPr>
              <a:t>Target Range</a:t>
            </a:r>
            <a:endParaRPr lang="en-US" sz="834" dirty="0"/>
          </a:p>
        </p:txBody>
      </p:sp>
      <p:sp>
        <p:nvSpPr>
          <p:cNvPr id="30" name="Text 27"/>
          <p:cNvSpPr/>
          <p:nvPr/>
        </p:nvSpPr>
        <p:spPr>
          <a:xfrm>
            <a:off x="5500660" y="4246513"/>
            <a:ext cx="292893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602" b="1" spc="-1" kern="0" dirty="0">
                <a:solidFill>
                  <a:srgbClr val="1A1D21"/>
                </a:solidFill>
              </a:rPr>
              <a:t>10% - 15%</a:t>
            </a:r>
            <a:endParaRPr lang="en-US" sz="1602" dirty="0"/>
          </a:p>
        </p:txBody>
      </p:sp>
      <p:sp>
        <p:nvSpPr>
          <p:cNvPr id="31" name="Text 28"/>
          <p:cNvSpPr/>
          <p:nvPr/>
        </p:nvSpPr>
        <p:spPr>
          <a:xfrm>
            <a:off x="5500660" y="4517975"/>
            <a:ext cx="2928938" cy="1400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333840"/>
                </a:solidFill>
              </a:rPr>
              <a:t>允许的波动率浮动区间。</a:t>
            </a:r>
            <a:endParaRPr lang="en-US" sz="727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428625"/>
            <a:ext cx="8001000" cy="720068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571500" y="428625"/>
            <a:ext cx="42863" cy="720068"/>
          </a:xfrm>
          <a:prstGeom prst="rect">
            <a:avLst/>
          </a:prstGeom>
          <a:solidFill>
            <a:srgbClr val="1A1D21"/>
          </a:solidFill>
          <a:ln/>
        </p:spPr>
      </p:sp>
      <p:sp>
        <p:nvSpPr>
          <p:cNvPr id="5" name="Text 2"/>
          <p:cNvSpPr/>
          <p:nvPr/>
        </p:nvSpPr>
        <p:spPr>
          <a:xfrm>
            <a:off x="785813" y="428625"/>
            <a:ext cx="7786688" cy="7200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121" b="1" dirty="0">
                <a:solidFill>
                  <a:srgbClr val="1A1D21"/>
                </a:solidFill>
              </a:rPr>
              <a:t>Funding Rate过滤因子是</a:t>
            </a:r>
            <a:pPr algn="l" indent="0" marL="0">
              <a:lnSpc>
                <a:spcPts val="2800"/>
              </a:lnSpc>
              <a:buNone/>
            </a:pPr>
            <a:r>
              <a:rPr lang="en-US" sz="2121" b="1" dirty="0">
                <a:solidFill>
                  <a:srgbClr val="1A1D21"/>
                </a:solidFill>
              </a:rPr>
              <a:t>
</a:t>
            </a:r>
            <a:pPr algn="l" indent="0" marL="0">
              <a:lnSpc>
                <a:spcPts val="2800"/>
              </a:lnSpc>
              <a:buNone/>
            </a:pPr>
            <a:r>
              <a:rPr lang="en-US" sz="2121" b="1" dirty="0">
                <a:solidFill>
                  <a:srgbClr val="1A1D21"/>
                </a:solidFill>
              </a:rPr>
              <a:t>Crypto市场的特有增强</a:t>
            </a:r>
            <a:endParaRPr lang="en-US" sz="2121" dirty="0"/>
          </a:p>
        </p:txBody>
      </p:sp>
      <p:sp>
        <p:nvSpPr>
          <p:cNvPr id="6" name="Text 3"/>
          <p:cNvSpPr/>
          <p:nvPr/>
        </p:nvSpPr>
        <p:spPr>
          <a:xfrm>
            <a:off x="728663" y="1363005"/>
            <a:ext cx="3700463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052CC"/>
                </a:solidFill>
              </a:rPr>
              <a:t>Market Crowding Indicator</a:t>
            </a:r>
            <a:endParaRPr lang="en-US" sz="987" dirty="0"/>
          </a:p>
        </p:txBody>
      </p:sp>
      <p:sp>
        <p:nvSpPr>
          <p:cNvPr id="7" name="Text 4"/>
          <p:cNvSpPr/>
          <p:nvPr/>
        </p:nvSpPr>
        <p:spPr>
          <a:xfrm>
            <a:off x="728663" y="1629110"/>
            <a:ext cx="3700463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333840"/>
                </a:solidFill>
              </a:rPr>
              <a:t>永续合约的Funding Rate反映了多空力量的对比。极端费率意味着市场极度拥挤，趋势可能接近尾声或面临剧烈回调。</a:t>
            </a:r>
            <a:endParaRPr lang="en-US" sz="942" dirty="0"/>
          </a:p>
        </p:txBody>
      </p:sp>
      <p:sp>
        <p:nvSpPr>
          <p:cNvPr id="8" name="Text 5"/>
          <p:cNvSpPr/>
          <p:nvPr/>
        </p:nvSpPr>
        <p:spPr>
          <a:xfrm>
            <a:off x="728663" y="2254858"/>
            <a:ext cx="3700463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052CC"/>
                </a:solidFill>
              </a:rPr>
              <a:t>Cost of Carry</a:t>
            </a:r>
            <a:endParaRPr lang="en-US" sz="987" dirty="0"/>
          </a:p>
        </p:txBody>
      </p:sp>
      <p:sp>
        <p:nvSpPr>
          <p:cNvPr id="9" name="Text 6"/>
          <p:cNvSpPr/>
          <p:nvPr/>
        </p:nvSpPr>
        <p:spPr>
          <a:xfrm>
            <a:off x="728663" y="2520962"/>
            <a:ext cx="3700463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333840"/>
                </a:solidFill>
              </a:rPr>
              <a:t>Funding Rate本质上是持仓成本。当费率方向与持仓方向不利时，高昂的资金费用会迅速侵蚀趋势策略的Alpha收益。</a:t>
            </a:r>
            <a:endParaRPr lang="en-US" sz="942" dirty="0"/>
          </a:p>
        </p:txBody>
      </p:sp>
      <p:sp>
        <p:nvSpPr>
          <p:cNvPr id="10" name="Shape 7"/>
          <p:cNvSpPr/>
          <p:nvPr/>
        </p:nvSpPr>
        <p:spPr>
          <a:xfrm>
            <a:off x="571500" y="3289585"/>
            <a:ext cx="3857625" cy="912614"/>
          </a:xfrm>
          <a:prstGeom prst="rect">
            <a:avLst/>
          </a:prstGeom>
          <a:solidFill>
            <a:srgbClr val="EAEAEA"/>
          </a:solidFill>
          <a:ln/>
        </p:spPr>
      </p:sp>
      <p:sp>
        <p:nvSpPr>
          <p:cNvPr id="11" name="Text 8"/>
          <p:cNvSpPr/>
          <p:nvPr/>
        </p:nvSpPr>
        <p:spPr>
          <a:xfrm>
            <a:off x="700088" y="3418173"/>
            <a:ext cx="360045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666666"/>
                </a:solidFill>
              </a:rPr>
              <a:t>Cost Impact Example</a:t>
            </a:r>
            <a:endParaRPr lang="en-US" sz="683" dirty="0"/>
          </a:p>
        </p:txBody>
      </p:sp>
      <p:sp>
        <p:nvSpPr>
          <p:cNvPr id="12" name="Text 9"/>
          <p:cNvSpPr/>
          <p:nvPr/>
        </p:nvSpPr>
        <p:spPr>
          <a:xfrm>
            <a:off x="700088" y="3589623"/>
            <a:ext cx="3600450" cy="4839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4D4D"/>
                </a:solidFill>
              </a:rPr>
              <a:t>Funding = +0.1% / 8h</a:t>
            </a:r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A1D21"/>
                </a:solidFill>
              </a:rPr>
              <a:t>
</a:t>
            </a:r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4D4D"/>
                </a:solidFill>
              </a:rPr>
              <a:t> Annualized Cost ≈ </a:t>
            </a:r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4D4D"/>
                </a:solidFill>
              </a:rPr>
              <a:t>109%</a:t>
            </a:r>
            <a:endParaRPr lang="en-US" sz="1193" dirty="0"/>
          </a:p>
        </p:txBody>
      </p:sp>
      <p:sp>
        <p:nvSpPr>
          <p:cNvPr id="13" name="Shape 10"/>
          <p:cNvSpPr/>
          <p:nvPr/>
        </p:nvSpPr>
        <p:spPr>
          <a:xfrm>
            <a:off x="4714875" y="1363005"/>
            <a:ext cx="3857625" cy="349474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Shape 11"/>
          <p:cNvSpPr/>
          <p:nvPr/>
        </p:nvSpPr>
        <p:spPr>
          <a:xfrm>
            <a:off x="4714875" y="1363005"/>
            <a:ext cx="3857625" cy="42863"/>
          </a:xfrm>
          <a:prstGeom prst="rect">
            <a:avLst/>
          </a:prstGeom>
          <a:solidFill>
            <a:srgbClr val="FF4D4D"/>
          </a:solidFill>
          <a:ln/>
        </p:spPr>
      </p:sp>
      <p:sp>
        <p:nvSpPr>
          <p:cNvPr id="15" name="Text 12"/>
          <p:cNvSpPr/>
          <p:nvPr/>
        </p:nvSpPr>
        <p:spPr>
          <a:xfrm>
            <a:off x="4957763" y="1605893"/>
            <a:ext cx="926009" cy="2500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A1D21"/>
                </a:solidFill>
              </a:rPr>
              <a:t>v1 过滤逻辑</a:t>
            </a:r>
            <a:endParaRPr lang="en-US" sz="1193" dirty="0"/>
          </a:p>
        </p:txBody>
      </p:sp>
      <p:sp>
        <p:nvSpPr>
          <p:cNvPr id="16" name="Text 13"/>
          <p:cNvSpPr/>
          <p:nvPr/>
        </p:nvSpPr>
        <p:spPr>
          <a:xfrm>
            <a:off x="7138364" y="1605893"/>
            <a:ext cx="1191248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ts val="2700"/>
              </a:lnSpc>
              <a:buNone/>
            </a:pPr>
            <a:r>
              <a:rPr lang="en-US" sz="2436" b="1" dirty="0">
                <a:solidFill>
                  <a:srgbClr val="FF4D4D"/>
                </a:solidFill>
              </a:rPr>
              <a:t>±0.03%</a:t>
            </a:r>
            <a:endParaRPr lang="en-US" sz="2436" dirty="0"/>
          </a:p>
        </p:txBody>
      </p:sp>
      <p:sp>
        <p:nvSpPr>
          <p:cNvPr id="17" name="Text 14"/>
          <p:cNvSpPr/>
          <p:nvPr/>
        </p:nvSpPr>
        <p:spPr>
          <a:xfrm>
            <a:off x="7138364" y="1984511"/>
            <a:ext cx="1191248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666666"/>
                </a:solidFill>
              </a:rPr>
              <a:t>Threshold (8h)</a:t>
            </a:r>
            <a:endParaRPr lang="en-US" sz="727" dirty="0"/>
          </a:p>
        </p:txBody>
      </p:sp>
      <p:sp>
        <p:nvSpPr>
          <p:cNvPr id="18" name="Shape 15"/>
          <p:cNvSpPr/>
          <p:nvPr/>
        </p:nvSpPr>
        <p:spPr>
          <a:xfrm>
            <a:off x="4957763" y="2334555"/>
            <a:ext cx="3371850" cy="1725774"/>
          </a:xfrm>
          <a:prstGeom prst="rect">
            <a:avLst/>
          </a:prstGeom>
          <a:solidFill>
            <a:srgbClr val="1A1D21"/>
          </a:solidFill>
          <a:ln/>
        </p:spPr>
      </p:sp>
      <p:sp>
        <p:nvSpPr>
          <p:cNvPr id="19" name="Text 16"/>
          <p:cNvSpPr/>
          <p:nvPr/>
        </p:nvSpPr>
        <p:spPr>
          <a:xfrm>
            <a:off x="4957763" y="2334555"/>
            <a:ext cx="3371850" cy="1725774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834" dirty="0">
                <a:solidFill>
                  <a:srgbClr val="6272A4"/>
                </a:solidFill>
              </a:rPr>
              <a:t># Long Position Check</a:t>
            </a:r>
            <a:pPr algn="l" indent="0" marL="0">
              <a:lnSpc>
                <a:spcPts val="1600"/>
              </a:lnSpc>
              <a:buNone/>
            </a:pPr>
            <a:r>
              <a:rPr lang="en-US" sz="834" dirty="0">
                <a:solidFill>
                  <a:srgbClr val="E0E0E0"/>
                </a:solidFill>
              </a:rPr>
              <a:t>
</a:t>
            </a:r>
            <a:pPr algn="l" indent="0" marL="0">
              <a:lnSpc>
                <a:spcPts val="1600"/>
              </a:lnSpc>
              <a:buNone/>
            </a:pPr>
            <a:r>
              <a:rPr lang="en-US" sz="834" dirty="0">
                <a:solidFill>
                  <a:srgbClr val="FF79C6"/>
                </a:solidFill>
              </a:rPr>
              <a:t>IF</a:t>
            </a:r>
            <a:pPr algn="l" indent="0" marL="0">
              <a:lnSpc>
                <a:spcPts val="1600"/>
              </a:lnSpc>
              <a:buNone/>
            </a:pPr>
            <a:r>
              <a:rPr lang="en-US" sz="834" dirty="0">
                <a:solidFill>
                  <a:srgbClr val="8BE9FD"/>
                </a:solidFill>
              </a:rPr>
              <a:t>funding_rate</a:t>
            </a:r>
            <a:pPr algn="l" indent="0" marL="0">
              <a:lnSpc>
                <a:spcPts val="1600"/>
              </a:lnSpc>
              <a:buNone/>
            </a:pPr>
            <a:r>
              <a:rPr lang="en-US" sz="834" dirty="0">
                <a:solidFill>
                  <a:srgbClr val="E0E0E0"/>
                </a:solidFill>
              </a:rPr>
              <a:t> &gt; </a:t>
            </a:r>
            <a:pPr algn="l" indent="0" marL="0">
              <a:lnSpc>
                <a:spcPts val="1600"/>
              </a:lnSpc>
              <a:buNone/>
            </a:pPr>
            <a:r>
              <a:rPr lang="en-US" sz="834" dirty="0">
                <a:solidFill>
                  <a:srgbClr val="BD93F9"/>
                </a:solidFill>
              </a:rPr>
              <a:t>0.0003</a:t>
            </a:r>
            <a:pPr algn="l" indent="0" marL="0">
              <a:lnSpc>
                <a:spcPts val="1600"/>
              </a:lnSpc>
              <a:buNone/>
            </a:pPr>
            <a:r>
              <a:rPr lang="en-US" sz="834" dirty="0">
                <a:solidFill>
                  <a:srgbClr val="E0E0E0"/>
                </a:solidFill>
              </a:rPr>
              <a:t>:</a:t>
            </a:r>
            <a:pPr algn="l" indent="0" marL="0">
              <a:lnSpc>
                <a:spcPts val="1600"/>
              </a:lnSpc>
              <a:buNone/>
            </a:pPr>
            <a:r>
              <a:rPr lang="en-US" sz="834" dirty="0">
                <a:solidFill>
                  <a:srgbClr val="E0E0E0"/>
                </a:solidFill>
              </a:rPr>
              <a:t>
</a:t>
            </a:r>
            <a:pPr algn="l" indent="0" marL="0">
              <a:lnSpc>
                <a:spcPts val="1600"/>
              </a:lnSpc>
              <a:buNone/>
            </a:pPr>
            <a:r>
              <a:rPr lang="en-US" sz="834" dirty="0">
                <a:solidFill>
                  <a:srgbClr val="8BE9FD"/>
                </a:solidFill>
              </a:rPr>
              <a:t>target_pos</a:t>
            </a:r>
            <a:pPr algn="l" indent="0" marL="0">
              <a:lnSpc>
                <a:spcPts val="1600"/>
              </a:lnSpc>
              <a:buNone/>
            </a:pPr>
            <a:r>
              <a:rPr lang="en-US" sz="834" dirty="0">
                <a:solidFill>
                  <a:srgbClr val="E0E0E0"/>
                </a:solidFill>
              </a:rPr>
              <a:t> = </a:t>
            </a:r>
            <a:pPr algn="l" indent="0" marL="0">
              <a:lnSpc>
                <a:spcPts val="1600"/>
              </a:lnSpc>
              <a:buNone/>
            </a:pPr>
            <a:r>
              <a:rPr lang="en-US" sz="834" dirty="0">
                <a:solidFill>
                  <a:srgbClr val="8BE9FD"/>
                </a:solidFill>
              </a:rPr>
              <a:t>target_pos</a:t>
            </a:r>
            <a:pPr algn="l" indent="0" marL="0">
              <a:lnSpc>
                <a:spcPts val="1600"/>
              </a:lnSpc>
              <a:buNone/>
            </a:pPr>
            <a:r>
              <a:rPr lang="en-US" sz="834" dirty="0">
                <a:solidFill>
                  <a:srgbClr val="E0E0E0"/>
                </a:solidFill>
              </a:rPr>
              <a:t> * </a:t>
            </a:r>
            <a:pPr algn="l" indent="0" marL="0">
              <a:lnSpc>
                <a:spcPts val="1600"/>
              </a:lnSpc>
              <a:buNone/>
            </a:pPr>
            <a:r>
              <a:rPr lang="en-US" sz="834" dirty="0">
                <a:solidFill>
                  <a:srgbClr val="BD93F9"/>
                </a:solidFill>
              </a:rPr>
              <a:t>0.5</a:t>
            </a:r>
            <a:pPr algn="l" indent="0" marL="0">
              <a:lnSpc>
                <a:spcPts val="1600"/>
              </a:lnSpc>
              <a:buNone/>
            </a:pPr>
            <a:r>
              <a:rPr lang="en-US" sz="834" dirty="0">
                <a:solidFill>
                  <a:srgbClr val="E0E0E0"/>
                </a:solidFill>
              </a:rPr>
              <a:t>
</a:t>
            </a:r>
            <a:pPr algn="l" indent="0" marL="0">
              <a:lnSpc>
                <a:spcPts val="1600"/>
              </a:lnSpc>
              <a:buNone/>
            </a:pPr>
            <a:r>
              <a:rPr lang="en-US" sz="834" dirty="0">
                <a:solidFill>
                  <a:srgbClr val="E0E0E0"/>
                </a:solidFill>
              </a:rPr>
              <a:t>
</a:t>
            </a:r>
            <a:pPr algn="l" indent="0" marL="0">
              <a:lnSpc>
                <a:spcPts val="1600"/>
              </a:lnSpc>
              <a:buNone/>
            </a:pPr>
            <a:r>
              <a:rPr lang="en-US" sz="834" dirty="0">
                <a:solidFill>
                  <a:srgbClr val="6272A4"/>
                </a:solidFill>
              </a:rPr>
              <a:t># Short Position Check</a:t>
            </a:r>
            <a:pPr algn="l" indent="0" marL="0">
              <a:lnSpc>
                <a:spcPts val="1600"/>
              </a:lnSpc>
              <a:buNone/>
            </a:pPr>
            <a:r>
              <a:rPr lang="en-US" sz="834" dirty="0">
                <a:solidFill>
                  <a:srgbClr val="E0E0E0"/>
                </a:solidFill>
              </a:rPr>
              <a:t>
</a:t>
            </a:r>
            <a:pPr algn="l" indent="0" marL="0">
              <a:lnSpc>
                <a:spcPts val="1600"/>
              </a:lnSpc>
              <a:buNone/>
            </a:pPr>
            <a:r>
              <a:rPr lang="en-US" sz="834" dirty="0">
                <a:solidFill>
                  <a:srgbClr val="FF79C6"/>
                </a:solidFill>
              </a:rPr>
              <a:t>IF</a:t>
            </a:r>
            <a:pPr algn="l" indent="0" marL="0">
              <a:lnSpc>
                <a:spcPts val="1600"/>
              </a:lnSpc>
              <a:buNone/>
            </a:pPr>
            <a:r>
              <a:rPr lang="en-US" sz="834" dirty="0">
                <a:solidFill>
                  <a:srgbClr val="8BE9FD"/>
                </a:solidFill>
              </a:rPr>
              <a:t>funding_rate</a:t>
            </a:r>
            <a:pPr algn="l" indent="0" marL="0">
              <a:lnSpc>
                <a:spcPts val="1600"/>
              </a:lnSpc>
              <a:buNone/>
            </a:pPr>
            <a:r>
              <a:rPr lang="en-US" sz="834" dirty="0">
                <a:solidFill>
                  <a:srgbClr val="E0E0E0"/>
                </a:solidFill>
              </a:rPr>
              <a:t> &lt; </a:t>
            </a:r>
            <a:pPr algn="l" indent="0" marL="0">
              <a:lnSpc>
                <a:spcPts val="1600"/>
              </a:lnSpc>
              <a:buNone/>
            </a:pPr>
            <a:r>
              <a:rPr lang="en-US" sz="834" dirty="0">
                <a:solidFill>
                  <a:srgbClr val="BD93F9"/>
                </a:solidFill>
              </a:rPr>
              <a:t>-0.0003</a:t>
            </a:r>
            <a:pPr algn="l" indent="0" marL="0">
              <a:lnSpc>
                <a:spcPts val="1600"/>
              </a:lnSpc>
              <a:buNone/>
            </a:pPr>
            <a:r>
              <a:rPr lang="en-US" sz="834" dirty="0">
                <a:solidFill>
                  <a:srgbClr val="E0E0E0"/>
                </a:solidFill>
              </a:rPr>
              <a:t>:</a:t>
            </a:r>
            <a:pPr algn="l" indent="0" marL="0">
              <a:lnSpc>
                <a:spcPts val="1600"/>
              </a:lnSpc>
              <a:buNone/>
            </a:pPr>
            <a:r>
              <a:rPr lang="en-US" sz="834" dirty="0">
                <a:solidFill>
                  <a:srgbClr val="E0E0E0"/>
                </a:solidFill>
              </a:rPr>
              <a:t>
</a:t>
            </a:r>
            <a:pPr algn="l" indent="0" marL="0">
              <a:lnSpc>
                <a:spcPts val="1600"/>
              </a:lnSpc>
              <a:buNone/>
            </a:pPr>
            <a:r>
              <a:rPr lang="en-US" sz="834" dirty="0">
                <a:solidFill>
                  <a:srgbClr val="8BE9FD"/>
                </a:solidFill>
              </a:rPr>
              <a:t>target_pos</a:t>
            </a:r>
            <a:pPr algn="l" indent="0" marL="0">
              <a:lnSpc>
                <a:spcPts val="1600"/>
              </a:lnSpc>
              <a:buNone/>
            </a:pPr>
            <a:r>
              <a:rPr lang="en-US" sz="834" dirty="0">
                <a:solidFill>
                  <a:srgbClr val="E0E0E0"/>
                </a:solidFill>
              </a:rPr>
              <a:t> = </a:t>
            </a:r>
            <a:pPr algn="l" indent="0" marL="0">
              <a:lnSpc>
                <a:spcPts val="1600"/>
              </a:lnSpc>
              <a:buNone/>
            </a:pPr>
            <a:r>
              <a:rPr lang="en-US" sz="834" dirty="0">
                <a:solidFill>
                  <a:srgbClr val="8BE9FD"/>
                </a:solidFill>
              </a:rPr>
              <a:t>target_pos</a:t>
            </a:r>
            <a:pPr algn="l" indent="0" marL="0">
              <a:lnSpc>
                <a:spcPts val="1600"/>
              </a:lnSpc>
              <a:buNone/>
            </a:pPr>
            <a:r>
              <a:rPr lang="en-US" sz="834" dirty="0">
                <a:solidFill>
                  <a:srgbClr val="E0E0E0"/>
                </a:solidFill>
              </a:rPr>
              <a:t> * </a:t>
            </a:r>
            <a:pPr algn="l" indent="0" marL="0">
              <a:lnSpc>
                <a:spcPts val="1600"/>
              </a:lnSpc>
              <a:buNone/>
            </a:pPr>
            <a:r>
              <a:rPr lang="en-US" sz="834" dirty="0">
                <a:solidFill>
                  <a:srgbClr val="BD93F9"/>
                </a:solidFill>
              </a:rPr>
              <a:t>0.5</a:t>
            </a:r>
            <a:endParaRPr lang="en-US" sz="834" dirty="0"/>
          </a:p>
        </p:txBody>
      </p:sp>
      <p:sp>
        <p:nvSpPr>
          <p:cNvPr id="20" name="Text 17"/>
          <p:cNvSpPr/>
          <p:nvPr/>
        </p:nvSpPr>
        <p:spPr>
          <a:xfrm>
            <a:off x="4957763" y="4203204"/>
            <a:ext cx="3371850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i="1" dirty="0">
                <a:solidFill>
                  <a:srgbClr val="666666"/>
                </a:solidFill>
              </a:rPr>
              <a:t>* 当费率极端不利时，系统自动降杠杆或禁止开新仓，优先保护本金。</a:t>
            </a:r>
            <a:endParaRPr lang="en-US" sz="727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428625"/>
            <a:ext cx="8001000" cy="720068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571500" y="428625"/>
            <a:ext cx="42863" cy="720068"/>
          </a:xfrm>
          <a:prstGeom prst="rect">
            <a:avLst/>
          </a:prstGeom>
          <a:solidFill>
            <a:srgbClr val="0052CC"/>
          </a:solidFill>
          <a:ln/>
        </p:spPr>
      </p:sp>
      <p:sp>
        <p:nvSpPr>
          <p:cNvPr id="5" name="Text 2"/>
          <p:cNvSpPr/>
          <p:nvPr/>
        </p:nvSpPr>
        <p:spPr>
          <a:xfrm>
            <a:off x="785813" y="428625"/>
            <a:ext cx="7786688" cy="7200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121" b="1" dirty="0">
                <a:solidFill>
                  <a:srgbClr val="1A1D21"/>
                </a:solidFill>
              </a:rPr>
              <a:t>多币种组合通过风险平价</a:t>
            </a:r>
            <a:pPr algn="l" indent="0" marL="0">
              <a:lnSpc>
                <a:spcPts val="2800"/>
              </a:lnSpc>
              <a:buNone/>
            </a:pPr>
            <a:r>
              <a:rPr lang="en-US" sz="2121" b="1" dirty="0">
                <a:solidFill>
                  <a:srgbClr val="1A1D21"/>
                </a:solidFill>
              </a:rPr>
              <a:t>
</a:t>
            </a:r>
            <a:pPr algn="l" indent="0" marL="0">
              <a:lnSpc>
                <a:spcPts val="2800"/>
              </a:lnSpc>
              <a:buNone/>
            </a:pPr>
            <a:r>
              <a:rPr lang="en-US" sz="2121" b="1" dirty="0">
                <a:solidFill>
                  <a:srgbClr val="1A1D21"/>
                </a:solidFill>
              </a:rPr>
              <a:t>实现分散化</a:t>
            </a:r>
            <a:endParaRPr lang="en-US" sz="2121" dirty="0"/>
          </a:p>
        </p:txBody>
      </p:sp>
      <p:sp>
        <p:nvSpPr>
          <p:cNvPr id="6" name="Text 3"/>
          <p:cNvSpPr/>
          <p:nvPr/>
        </p:nvSpPr>
        <p:spPr>
          <a:xfrm>
            <a:off x="571500" y="1434443"/>
            <a:ext cx="3857625" cy="271463"/>
          </a:xfrm>
          <a:prstGeom prst="rect">
            <a:avLst/>
          </a:prstGeom>
          <a:noFill/>
          <a:ln/>
        </p:spPr>
        <p:txBody>
          <a:bodyPr wrap="square" lIns="0" tIns="0" rIns="0" bIns="68072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spc="1" kern="0" dirty="0">
                <a:solidFill>
                  <a:srgbClr val="0052CC"/>
                </a:solidFill>
              </a:rPr>
              <a:t>多市场分散 (Diversification)</a:t>
            </a:r>
            <a:endParaRPr lang="en-US" sz="987" dirty="0"/>
          </a:p>
        </p:txBody>
      </p:sp>
      <p:sp>
        <p:nvSpPr>
          <p:cNvPr id="7" name="Text 4"/>
          <p:cNvSpPr/>
          <p:nvPr/>
        </p:nvSpPr>
        <p:spPr>
          <a:xfrm>
            <a:off x="571500" y="1791630"/>
            <a:ext cx="3857625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just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333840"/>
                </a:solidFill>
              </a:rPr>
              <a:t>不同币种的趋势启动和持续性存在差异，组合能降低单一标的风险并提升策略稳健性。</a:t>
            </a:r>
            <a:endParaRPr lang="en-US" sz="942" dirty="0"/>
          </a:p>
        </p:txBody>
      </p:sp>
      <p:sp>
        <p:nvSpPr>
          <p:cNvPr id="8" name="Text 5"/>
          <p:cNvSpPr/>
          <p:nvPr/>
        </p:nvSpPr>
        <p:spPr>
          <a:xfrm>
            <a:off x="4714875" y="1434443"/>
            <a:ext cx="3857625" cy="271463"/>
          </a:xfrm>
          <a:prstGeom prst="rect">
            <a:avLst/>
          </a:prstGeom>
          <a:noFill/>
          <a:ln/>
        </p:spPr>
        <p:txBody>
          <a:bodyPr wrap="square" lIns="0" tIns="0" rIns="0" bIns="68072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spc="1" kern="0" dirty="0">
                <a:solidFill>
                  <a:srgbClr val="0052CC"/>
                </a:solidFill>
              </a:rPr>
              <a:t>风险平价 (Risk Parity)</a:t>
            </a:r>
            <a:endParaRPr lang="en-US" sz="987" dirty="0"/>
          </a:p>
        </p:txBody>
      </p:sp>
      <p:sp>
        <p:nvSpPr>
          <p:cNvPr id="9" name="Text 6"/>
          <p:cNvSpPr/>
          <p:nvPr/>
        </p:nvSpPr>
        <p:spPr>
          <a:xfrm>
            <a:off x="4714875" y="1791630"/>
            <a:ext cx="3857625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just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333840"/>
                </a:solidFill>
              </a:rPr>
              <a:t>通过波动率倒数加权，使各标的对组合的风险贡献更均衡，避免高波动资产过度占比。</a:t>
            </a:r>
            <a:endParaRPr lang="en-US" sz="942" dirty="0"/>
          </a:p>
        </p:txBody>
      </p:sp>
      <p:sp>
        <p:nvSpPr>
          <p:cNvPr id="10" name="Shape 7"/>
          <p:cNvSpPr/>
          <p:nvPr/>
        </p:nvSpPr>
        <p:spPr>
          <a:xfrm>
            <a:off x="571500" y="2345941"/>
            <a:ext cx="8001000" cy="75009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Shape 8"/>
          <p:cNvSpPr/>
          <p:nvPr/>
        </p:nvSpPr>
        <p:spPr>
          <a:xfrm>
            <a:off x="571500" y="2345941"/>
            <a:ext cx="28575" cy="750094"/>
          </a:xfrm>
          <a:prstGeom prst="rect">
            <a:avLst/>
          </a:prstGeom>
          <a:solidFill>
            <a:srgbClr val="1A1D21"/>
          </a:solidFill>
          <a:ln/>
        </p:spPr>
      </p:sp>
      <p:sp>
        <p:nvSpPr>
          <p:cNvPr id="12" name="Text 9"/>
          <p:cNvSpPr/>
          <p:nvPr/>
        </p:nvSpPr>
        <p:spPr>
          <a:xfrm>
            <a:off x="685800" y="2460241"/>
            <a:ext cx="1303372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A1D21"/>
                </a:solidFill>
              </a:rPr>
              <a:t>a</a:t>
            </a:r>
            <a:pPr algn="l" indent="0" marL="0">
              <a:lnSpc>
                <a:spcPts val="1400"/>
              </a:lnSpc>
              <a:buNone/>
            </a:pPr>
            <a:r>
              <a:rPr lang="en-US" sz="870" baseline="-40000" dirty="0">
                <a:solidFill>
                  <a:srgbClr val="1A1D21"/>
                </a:solidFill>
              </a:rPr>
              <a:t>i</a:t>
            </a:r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A1D21"/>
                </a:solidFill>
              </a:rPr>
              <a:t> = (1 / σ</a:t>
            </a:r>
            <a:pPr algn="l" indent="0" marL="0">
              <a:lnSpc>
                <a:spcPts val="1400"/>
              </a:lnSpc>
              <a:buNone/>
            </a:pPr>
            <a:r>
              <a:rPr lang="en-US" sz="870" baseline="-40000" dirty="0">
                <a:solidFill>
                  <a:srgbClr val="1A1D21"/>
                </a:solidFill>
              </a:rPr>
              <a:t>i</a:t>
            </a:r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A1D21"/>
                </a:solidFill>
              </a:rPr>
              <a:t>) / Σ(1 / σ</a:t>
            </a:r>
            <a:pPr algn="l" indent="0" marL="0">
              <a:lnSpc>
                <a:spcPts val="1400"/>
              </a:lnSpc>
              <a:buNone/>
            </a:pPr>
            <a:r>
              <a:rPr lang="en-US" sz="870" baseline="-40000" dirty="0">
                <a:solidFill>
                  <a:srgbClr val="1A1D21"/>
                </a:solidFill>
              </a:rPr>
              <a:t>j</a:t>
            </a:r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A1D21"/>
                </a:solidFill>
              </a:rPr>
              <a:t>)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685800" y="2763850"/>
            <a:ext cx="989186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A1D21"/>
                </a:solidFill>
              </a:rPr>
              <a:t>pos</a:t>
            </a:r>
            <a:pPr algn="l" indent="0" marL="0">
              <a:lnSpc>
                <a:spcPts val="1400"/>
              </a:lnSpc>
              <a:buNone/>
            </a:pPr>
            <a:r>
              <a:rPr lang="en-US" sz="870" baseline="-40000" dirty="0">
                <a:solidFill>
                  <a:srgbClr val="1A1D21"/>
                </a:solidFill>
              </a:rPr>
              <a:t>i,t</a:t>
            </a:r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A1D21"/>
                </a:solidFill>
              </a:rPr>
              <a:t> = a</a:t>
            </a:r>
            <a:pPr algn="l" indent="0" marL="0">
              <a:lnSpc>
                <a:spcPts val="1400"/>
              </a:lnSpc>
              <a:buNone/>
            </a:pPr>
            <a:r>
              <a:rPr lang="en-US" sz="870" baseline="-40000" dirty="0">
                <a:solidFill>
                  <a:srgbClr val="1A1D21"/>
                </a:solidFill>
              </a:rPr>
              <a:t>i</a:t>
            </a:r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A1D21"/>
                </a:solidFill>
              </a:rPr>
              <a:t> × w</a:t>
            </a:r>
            <a:pPr algn="l" indent="0" marL="0">
              <a:lnSpc>
                <a:spcPts val="1400"/>
              </a:lnSpc>
              <a:buNone/>
            </a:pPr>
            <a:r>
              <a:rPr lang="en-US" sz="870" baseline="-40000" dirty="0">
                <a:solidFill>
                  <a:srgbClr val="1A1D21"/>
                </a:solidFill>
              </a:rPr>
              <a:t>i,t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5705680" y="2540803"/>
            <a:ext cx="2752520" cy="3603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666666"/>
                </a:solidFill>
              </a:rPr>
              <a:t>简化风险平价逻辑：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666666"/>
                </a:solidFill>
              </a:rPr>
              <a:t>
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666666"/>
                </a:solidFill>
              </a:rPr>
              <a:t> 先算风险权重 a</a:t>
            </a:r>
            <a:pPr algn="l" indent="0" marL="0">
              <a:lnSpc>
                <a:spcPts val="1400"/>
              </a:lnSpc>
              <a:buNone/>
            </a:pPr>
            <a:r>
              <a:rPr lang="en-US" sz="691" baseline="-40000" dirty="0">
                <a:solidFill>
                  <a:srgbClr val="666666"/>
                </a:solidFill>
              </a:rPr>
              <a:t>i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666666"/>
                </a:solidFill>
              </a:rPr>
              <a:t>，再乘以信号权重 w</a:t>
            </a:r>
            <a:pPr algn="l" indent="0" marL="0">
              <a:lnSpc>
                <a:spcPts val="1400"/>
              </a:lnSpc>
              <a:buNone/>
            </a:pPr>
            <a:r>
              <a:rPr lang="en-US" sz="691" baseline="-40000" dirty="0">
                <a:solidFill>
                  <a:srgbClr val="666666"/>
                </a:solidFill>
              </a:rPr>
              <a:t>i,t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666666"/>
                </a:solidFill>
              </a:rPr>
              <a:t> 得到最终持仓。</a:t>
            </a:r>
            <a:endParaRPr lang="en-US" sz="784" dirty="0"/>
          </a:p>
        </p:txBody>
      </p:sp>
      <p:sp>
        <p:nvSpPr>
          <p:cNvPr id="15" name="Text 12"/>
          <p:cNvSpPr/>
          <p:nvPr/>
        </p:nvSpPr>
        <p:spPr>
          <a:xfrm>
            <a:off x="571500" y="3855839"/>
            <a:ext cx="8001000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666666"/>
                </a:solidFill>
              </a:rPr>
              <a:t>权重分配示意 (Inverse Volatility Weighting)</a:t>
            </a:r>
            <a:endParaRPr lang="en-US" sz="683" dirty="0"/>
          </a:p>
        </p:txBody>
      </p:sp>
      <p:sp>
        <p:nvSpPr>
          <p:cNvPr id="16" name="Text 13"/>
          <p:cNvSpPr/>
          <p:nvPr/>
        </p:nvSpPr>
        <p:spPr>
          <a:xfrm>
            <a:off x="1508364" y="4570214"/>
            <a:ext cx="650388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1A1D21"/>
                </a:solidFill>
              </a:rPr>
              <a:t>BTC (Low Vol)</a:t>
            </a:r>
            <a:endParaRPr lang="en-US" sz="683" dirty="0"/>
          </a:p>
        </p:txBody>
      </p:sp>
      <p:sp>
        <p:nvSpPr>
          <p:cNvPr id="17" name="Text 14"/>
          <p:cNvSpPr/>
          <p:nvPr/>
        </p:nvSpPr>
        <p:spPr>
          <a:xfrm>
            <a:off x="1572685" y="4763095"/>
            <a:ext cx="521745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888888"/>
                </a:solidFill>
              </a:rPr>
              <a:t>Weight: High</a:t>
            </a:r>
            <a:endParaRPr lang="en-US" sz="621" dirty="0"/>
          </a:p>
        </p:txBody>
      </p:sp>
      <p:sp>
        <p:nvSpPr>
          <p:cNvPr id="18" name="Text 15"/>
          <p:cNvSpPr/>
          <p:nvPr/>
        </p:nvSpPr>
        <p:spPr>
          <a:xfrm>
            <a:off x="4236941" y="4570214"/>
            <a:ext cx="670089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1A1D21"/>
                </a:solidFill>
              </a:rPr>
              <a:t>ETH (Med Vol)</a:t>
            </a:r>
            <a:endParaRPr lang="en-US" sz="683" dirty="0"/>
          </a:p>
        </p:txBody>
      </p:sp>
      <p:sp>
        <p:nvSpPr>
          <p:cNvPr id="19" name="Text 16"/>
          <p:cNvSpPr/>
          <p:nvPr/>
        </p:nvSpPr>
        <p:spPr>
          <a:xfrm>
            <a:off x="4239732" y="4763095"/>
            <a:ext cx="664480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888888"/>
                </a:solidFill>
              </a:rPr>
              <a:t>Weight: Medium</a:t>
            </a:r>
            <a:endParaRPr lang="en-US" sz="621" dirty="0"/>
          </a:p>
        </p:txBody>
      </p:sp>
      <p:sp>
        <p:nvSpPr>
          <p:cNvPr id="20" name="Text 17"/>
          <p:cNvSpPr/>
          <p:nvPr/>
        </p:nvSpPr>
        <p:spPr>
          <a:xfrm>
            <a:off x="6972244" y="4570214"/>
            <a:ext cx="676312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1A1D21"/>
                </a:solidFill>
              </a:rPr>
              <a:t>ALT (High Vol)</a:t>
            </a:r>
            <a:endParaRPr lang="en-US" sz="683" dirty="0"/>
          </a:p>
        </p:txBody>
      </p:sp>
      <p:sp>
        <p:nvSpPr>
          <p:cNvPr id="21" name="Text 18"/>
          <p:cNvSpPr/>
          <p:nvPr/>
        </p:nvSpPr>
        <p:spPr>
          <a:xfrm>
            <a:off x="7063997" y="4763095"/>
            <a:ext cx="492835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888888"/>
                </a:solidFill>
              </a:rPr>
              <a:t>Weight: Low</a:t>
            </a:r>
            <a:endParaRPr lang="en-US" sz="621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428625"/>
            <a:ext cx="8001000" cy="1241561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571500" y="428625"/>
            <a:ext cx="42863" cy="1241561"/>
          </a:xfrm>
          <a:prstGeom prst="rect">
            <a:avLst/>
          </a:prstGeom>
          <a:solidFill>
            <a:srgbClr val="0052CC"/>
          </a:solidFill>
          <a:ln/>
        </p:spPr>
      </p:sp>
      <p:sp>
        <p:nvSpPr>
          <p:cNvPr id="5" name="Text 2"/>
          <p:cNvSpPr/>
          <p:nvPr/>
        </p:nvSpPr>
        <p:spPr>
          <a:xfrm>
            <a:off x="785813" y="428625"/>
            <a:ext cx="7786688" cy="7200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121" b="1" dirty="0">
                <a:solidFill>
                  <a:srgbClr val="1A1D21"/>
                </a:solidFill>
              </a:rPr>
              <a:t>执行层约束是分钟级策略</a:t>
            </a:r>
            <a:pPr algn="l" indent="0" marL="0">
              <a:lnSpc>
                <a:spcPts val="2800"/>
              </a:lnSpc>
              <a:buNone/>
            </a:pPr>
            <a:r>
              <a:rPr lang="en-US" sz="2121" b="1" dirty="0">
                <a:solidFill>
                  <a:srgbClr val="1A1D21"/>
                </a:solidFill>
              </a:rPr>
              <a:t>
</a:t>
            </a:r>
            <a:pPr algn="l" indent="0" marL="0">
              <a:lnSpc>
                <a:spcPts val="2800"/>
              </a:lnSpc>
              <a:buNone/>
            </a:pPr>
            <a:r>
              <a:rPr lang="en-US" sz="2121" b="1" dirty="0">
                <a:solidFill>
                  <a:srgbClr val="1A1D21"/>
                </a:solidFill>
              </a:rPr>
              <a:t>盈利的关键</a:t>
            </a:r>
            <a:endParaRPr lang="en-US" sz="2121" dirty="0"/>
          </a:p>
        </p:txBody>
      </p:sp>
      <p:sp>
        <p:nvSpPr>
          <p:cNvPr id="6" name="Text 3"/>
          <p:cNvSpPr/>
          <p:nvPr/>
        </p:nvSpPr>
        <p:spPr>
          <a:xfrm>
            <a:off x="785813" y="1255849"/>
            <a:ext cx="5715000" cy="4143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666666"/>
                </a:solidFill>
              </a:rPr>
              <a:t>分钟级策略对交易成本极度敏感。必须通过严格的执行约束，大幅降低交易频率，防止手续费和滑点吞噬理论收益。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571500" y="1784486"/>
            <a:ext cx="4000500" cy="142054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Shape 5"/>
          <p:cNvSpPr/>
          <p:nvPr/>
        </p:nvSpPr>
        <p:spPr>
          <a:xfrm>
            <a:off x="571500" y="1784486"/>
            <a:ext cx="4000500" cy="28575"/>
          </a:xfrm>
          <a:prstGeom prst="rect">
            <a:avLst/>
          </a:prstGeom>
          <a:solidFill>
            <a:srgbClr val="0052CC"/>
          </a:solidFill>
          <a:ln/>
        </p:spPr>
      </p:sp>
      <p:sp>
        <p:nvSpPr>
          <p:cNvPr id="9" name="Text 6"/>
          <p:cNvSpPr/>
          <p:nvPr/>
        </p:nvSpPr>
        <p:spPr>
          <a:xfrm>
            <a:off x="657225" y="1870211"/>
            <a:ext cx="1641137" cy="4839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A1D21"/>
                </a:solidFill>
              </a:rPr>
              <a:t>最小持仓期</a:t>
            </a:r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A1D21"/>
                </a:solidFill>
              </a:rPr>
              <a:t>
</a:t>
            </a:r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A1D21"/>
                </a:solidFill>
              </a:rPr>
              <a:t>Min Holding Period</a:t>
            </a:r>
            <a:endParaRPr lang="en-US" sz="1193" dirty="0"/>
          </a:p>
        </p:txBody>
      </p:sp>
      <p:sp>
        <p:nvSpPr>
          <p:cNvPr id="10" name="Text 7"/>
          <p:cNvSpPr/>
          <p:nvPr/>
        </p:nvSpPr>
        <p:spPr>
          <a:xfrm>
            <a:off x="3720917" y="1870211"/>
            <a:ext cx="765358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0052CC"/>
                </a:solidFill>
              </a:rPr>
              <a:t>30 min</a:t>
            </a:r>
            <a:endParaRPr lang="en-US" sz="1602" dirty="0"/>
          </a:p>
        </p:txBody>
      </p:sp>
      <p:sp>
        <p:nvSpPr>
          <p:cNvPr id="11" name="Text 8"/>
          <p:cNvSpPr/>
          <p:nvPr/>
        </p:nvSpPr>
        <p:spPr>
          <a:xfrm>
            <a:off x="657225" y="2411350"/>
            <a:ext cx="3829050" cy="5061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333840"/>
                </a:solidFill>
              </a:rPr>
              <a:t>开仓后30分钟内（6根K线）禁止平仓或反向开仓。</a:t>
            </a:r>
            <a:endParaRPr lang="en-US" sz="834" dirty="0"/>
          </a:p>
        </p:txBody>
      </p:sp>
      <p:sp>
        <p:nvSpPr>
          <p:cNvPr id="12" name="Text 9"/>
          <p:cNvSpPr/>
          <p:nvPr/>
        </p:nvSpPr>
        <p:spPr>
          <a:xfrm>
            <a:off x="657225" y="2974646"/>
            <a:ext cx="3829050" cy="144661"/>
          </a:xfrm>
          <a:prstGeom prst="rect">
            <a:avLst/>
          </a:prstGeom>
          <a:noFill/>
          <a:ln/>
        </p:spPr>
        <p:txBody>
          <a:bodyPr wrap="none" lIns="8509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i="1" dirty="0">
                <a:solidFill>
                  <a:srgbClr val="666666"/>
                </a:solidFill>
              </a:rPr>
              <a:t>目的：过滤高频噪声和盘口抖动，防止策略在震荡中反复止损。</a:t>
            </a:r>
            <a:endParaRPr lang="en-US" sz="727" dirty="0"/>
          </a:p>
        </p:txBody>
      </p:sp>
      <p:sp>
        <p:nvSpPr>
          <p:cNvPr id="13" name="Shape 10"/>
          <p:cNvSpPr/>
          <p:nvPr/>
        </p:nvSpPr>
        <p:spPr>
          <a:xfrm>
            <a:off x="4572000" y="1784486"/>
            <a:ext cx="4000500" cy="142054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Shape 11"/>
          <p:cNvSpPr/>
          <p:nvPr/>
        </p:nvSpPr>
        <p:spPr>
          <a:xfrm>
            <a:off x="4572000" y="1784486"/>
            <a:ext cx="4000500" cy="28575"/>
          </a:xfrm>
          <a:prstGeom prst="rect">
            <a:avLst/>
          </a:prstGeom>
          <a:solidFill>
            <a:srgbClr val="0052CC"/>
          </a:solidFill>
          <a:ln/>
        </p:spPr>
      </p:sp>
      <p:sp>
        <p:nvSpPr>
          <p:cNvPr id="15" name="Text 12"/>
          <p:cNvSpPr/>
          <p:nvPr/>
        </p:nvSpPr>
        <p:spPr>
          <a:xfrm>
            <a:off x="4657725" y="1870211"/>
            <a:ext cx="1710230" cy="4839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A1D21"/>
                </a:solidFill>
              </a:rPr>
              <a:t>信号确认</a:t>
            </a:r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A1D21"/>
                </a:solidFill>
              </a:rPr>
              <a:t>
</a:t>
            </a:r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A1D21"/>
                </a:solidFill>
              </a:rPr>
              <a:t>Signal Confirmation</a:t>
            </a:r>
            <a:endParaRPr lang="en-US" sz="1193" dirty="0"/>
          </a:p>
        </p:txBody>
      </p:sp>
      <p:sp>
        <p:nvSpPr>
          <p:cNvPr id="16" name="Text 13"/>
          <p:cNvSpPr/>
          <p:nvPr/>
        </p:nvSpPr>
        <p:spPr>
          <a:xfrm>
            <a:off x="7787469" y="1870211"/>
            <a:ext cx="699306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0052CC"/>
                </a:solidFill>
              </a:rPr>
              <a:t>2 Bars</a:t>
            </a:r>
            <a:endParaRPr lang="en-US" sz="1602" dirty="0"/>
          </a:p>
        </p:txBody>
      </p:sp>
      <p:sp>
        <p:nvSpPr>
          <p:cNvPr id="17" name="Text 14"/>
          <p:cNvSpPr/>
          <p:nvPr/>
        </p:nvSpPr>
        <p:spPr>
          <a:xfrm>
            <a:off x="4657725" y="2411350"/>
            <a:ext cx="3829050" cy="4918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333840"/>
                </a:solidFill>
              </a:rPr>
              <a:t>突破信号必须连续2根5分钟Bar确认后才执行。</a:t>
            </a:r>
            <a:endParaRPr lang="en-US" sz="834" dirty="0"/>
          </a:p>
        </p:txBody>
      </p:sp>
      <p:sp>
        <p:nvSpPr>
          <p:cNvPr id="18" name="Text 15"/>
          <p:cNvSpPr/>
          <p:nvPr/>
        </p:nvSpPr>
        <p:spPr>
          <a:xfrm>
            <a:off x="4657725" y="2960359"/>
            <a:ext cx="3829050" cy="144661"/>
          </a:xfrm>
          <a:prstGeom prst="rect">
            <a:avLst/>
          </a:prstGeom>
          <a:noFill/>
          <a:ln/>
        </p:spPr>
        <p:txBody>
          <a:bodyPr wrap="none" lIns="8509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i="1" dirty="0">
                <a:solidFill>
                  <a:srgbClr val="666666"/>
                </a:solidFill>
              </a:rPr>
              <a:t>目的：牺牲少量入场时效性，换取更高的信号胜率，避免假突破。</a:t>
            </a:r>
            <a:endParaRPr lang="en-US" sz="727" dirty="0"/>
          </a:p>
        </p:txBody>
      </p:sp>
      <p:sp>
        <p:nvSpPr>
          <p:cNvPr id="19" name="Shape 16"/>
          <p:cNvSpPr/>
          <p:nvPr/>
        </p:nvSpPr>
        <p:spPr>
          <a:xfrm>
            <a:off x="571500" y="3190745"/>
            <a:ext cx="4000500" cy="188131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Shape 17"/>
          <p:cNvSpPr/>
          <p:nvPr/>
        </p:nvSpPr>
        <p:spPr>
          <a:xfrm>
            <a:off x="571500" y="3190745"/>
            <a:ext cx="4000500" cy="28575"/>
          </a:xfrm>
          <a:prstGeom prst="rect">
            <a:avLst/>
          </a:prstGeom>
          <a:solidFill>
            <a:srgbClr val="0052CC"/>
          </a:solidFill>
          <a:ln/>
        </p:spPr>
      </p:sp>
      <p:sp>
        <p:nvSpPr>
          <p:cNvPr id="21" name="Text 18"/>
          <p:cNvSpPr/>
          <p:nvPr/>
        </p:nvSpPr>
        <p:spPr>
          <a:xfrm>
            <a:off x="657225" y="3276470"/>
            <a:ext cx="881276" cy="4839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A1D21"/>
                </a:solidFill>
              </a:rPr>
              <a:t>交易限频</a:t>
            </a:r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A1D21"/>
                </a:solidFill>
              </a:rPr>
              <a:t>
</a:t>
            </a:r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A1D21"/>
                </a:solidFill>
              </a:rPr>
              <a:t>Rate Limit</a:t>
            </a:r>
            <a:endParaRPr lang="en-US" sz="1193" dirty="0"/>
          </a:p>
        </p:txBody>
      </p:sp>
      <p:sp>
        <p:nvSpPr>
          <p:cNvPr id="22" name="Text 19"/>
          <p:cNvSpPr/>
          <p:nvPr/>
        </p:nvSpPr>
        <p:spPr>
          <a:xfrm>
            <a:off x="3571847" y="3276470"/>
            <a:ext cx="914428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0052CC"/>
                </a:solidFill>
              </a:rPr>
              <a:t>1 / Hour</a:t>
            </a:r>
            <a:endParaRPr lang="en-US" sz="1602" dirty="0"/>
          </a:p>
        </p:txBody>
      </p:sp>
      <p:sp>
        <p:nvSpPr>
          <p:cNvPr id="23" name="Text 20"/>
          <p:cNvSpPr/>
          <p:nvPr/>
        </p:nvSpPr>
        <p:spPr>
          <a:xfrm>
            <a:off x="657225" y="3817609"/>
            <a:ext cx="3829050" cy="9669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333840"/>
                </a:solidFill>
              </a:rPr>
              <a:t>单币种每小时最多允许一次换仓操作。</a:t>
            </a:r>
            <a:endParaRPr lang="en-US" sz="834" dirty="0"/>
          </a:p>
        </p:txBody>
      </p:sp>
      <p:sp>
        <p:nvSpPr>
          <p:cNvPr id="24" name="Text 21"/>
          <p:cNvSpPr/>
          <p:nvPr/>
        </p:nvSpPr>
        <p:spPr>
          <a:xfrm>
            <a:off x="657225" y="4841677"/>
            <a:ext cx="3829050" cy="144661"/>
          </a:xfrm>
          <a:prstGeom prst="rect">
            <a:avLst/>
          </a:prstGeom>
          <a:noFill/>
          <a:ln/>
        </p:spPr>
        <p:txBody>
          <a:bodyPr wrap="none" lIns="8509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i="1" dirty="0">
                <a:solidFill>
                  <a:srgbClr val="666666"/>
                </a:solidFill>
              </a:rPr>
              <a:t>目的：强制策略捕捉较大级别的趋势，作为成本控制的最后一道防线。</a:t>
            </a:r>
            <a:endParaRPr lang="en-US" sz="727" dirty="0"/>
          </a:p>
        </p:txBody>
      </p:sp>
      <p:sp>
        <p:nvSpPr>
          <p:cNvPr id="25" name="Shape 22"/>
          <p:cNvSpPr/>
          <p:nvPr/>
        </p:nvSpPr>
        <p:spPr>
          <a:xfrm>
            <a:off x="4572000" y="3190745"/>
            <a:ext cx="4000500" cy="1881318"/>
          </a:xfrm>
          <a:prstGeom prst="rect">
            <a:avLst/>
          </a:prstGeom>
          <a:solidFill>
            <a:srgbClr val="1A1D21"/>
          </a:solidFill>
          <a:ln/>
        </p:spPr>
      </p:sp>
      <p:sp>
        <p:nvSpPr>
          <p:cNvPr id="26" name="Shape 23"/>
          <p:cNvSpPr/>
          <p:nvPr/>
        </p:nvSpPr>
        <p:spPr>
          <a:xfrm>
            <a:off x="4572000" y="3190745"/>
            <a:ext cx="4000500" cy="28575"/>
          </a:xfrm>
          <a:prstGeom prst="rect">
            <a:avLst/>
          </a:prstGeom>
          <a:solidFill>
            <a:srgbClr val="FF4D4D"/>
          </a:solidFill>
          <a:ln/>
        </p:spPr>
      </p:sp>
      <p:sp>
        <p:nvSpPr>
          <p:cNvPr id="27" name="Text 24"/>
          <p:cNvSpPr/>
          <p:nvPr/>
        </p:nvSpPr>
        <p:spPr>
          <a:xfrm>
            <a:off x="4657725" y="3290757"/>
            <a:ext cx="1126620" cy="4839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FFFF"/>
                </a:solidFill>
              </a:rPr>
              <a:t>成本模型</a:t>
            </a:r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FFFF"/>
                </a:solidFill>
              </a:rPr>
              <a:t>
</a:t>
            </a:r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FFFF"/>
                </a:solidFill>
              </a:rPr>
              <a:t>Cost Analysis</a:t>
            </a:r>
            <a:endParaRPr lang="en-US" sz="1193" dirty="0"/>
          </a:p>
        </p:txBody>
      </p:sp>
      <p:sp>
        <p:nvSpPr>
          <p:cNvPr id="28" name="Text 25"/>
          <p:cNvSpPr/>
          <p:nvPr/>
        </p:nvSpPr>
        <p:spPr>
          <a:xfrm>
            <a:off x="7673392" y="3290757"/>
            <a:ext cx="813383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FF4D4D"/>
                </a:solidFill>
              </a:rPr>
              <a:t>Critical</a:t>
            </a:r>
            <a:endParaRPr lang="en-US" sz="1602" dirty="0"/>
          </a:p>
        </p:txBody>
      </p:sp>
      <p:sp>
        <p:nvSpPr>
          <p:cNvPr id="29" name="Text 26"/>
          <p:cNvSpPr/>
          <p:nvPr/>
        </p:nvSpPr>
        <p:spPr>
          <a:xfrm>
            <a:off x="4657725" y="3831896"/>
            <a:ext cx="3829050" cy="5061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CCCCCC"/>
                </a:solidFill>
              </a:rPr>
              <a:t>必须在回测中扣除真实成本。若不控制频率，成本将呈指数级增长。</a:t>
            </a:r>
            <a:endParaRPr lang="en-US" sz="834" dirty="0"/>
          </a:p>
        </p:txBody>
      </p:sp>
      <p:sp>
        <p:nvSpPr>
          <p:cNvPr id="30" name="Text 27"/>
          <p:cNvSpPr/>
          <p:nvPr/>
        </p:nvSpPr>
        <p:spPr>
          <a:xfrm>
            <a:off x="4657725" y="4459486"/>
            <a:ext cx="103163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CCCCCC"/>
                </a:solidFill>
              </a:rPr>
              <a:t>Exchange Fees (Taker)</a:t>
            </a:r>
            <a:endParaRPr lang="en-US" sz="727" dirty="0"/>
          </a:p>
        </p:txBody>
      </p:sp>
      <p:sp>
        <p:nvSpPr>
          <p:cNvPr id="31" name="Text 28"/>
          <p:cNvSpPr/>
          <p:nvPr/>
        </p:nvSpPr>
        <p:spPr>
          <a:xfrm>
            <a:off x="8148005" y="4459486"/>
            <a:ext cx="33877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CCCCCC"/>
                </a:solidFill>
              </a:rPr>
              <a:t>~0.05%</a:t>
            </a:r>
            <a:endParaRPr lang="en-US" sz="727" dirty="0"/>
          </a:p>
        </p:txBody>
      </p:sp>
      <p:sp>
        <p:nvSpPr>
          <p:cNvPr id="32" name="Text 29"/>
          <p:cNvSpPr/>
          <p:nvPr/>
        </p:nvSpPr>
        <p:spPr>
          <a:xfrm>
            <a:off x="4657725" y="4623792"/>
            <a:ext cx="596001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CCCCCC"/>
                </a:solidFill>
              </a:rPr>
              <a:t>Est. Slippage</a:t>
            </a:r>
            <a:endParaRPr lang="en-US" sz="727" dirty="0"/>
          </a:p>
        </p:txBody>
      </p:sp>
      <p:sp>
        <p:nvSpPr>
          <p:cNvPr id="33" name="Text 30"/>
          <p:cNvSpPr/>
          <p:nvPr/>
        </p:nvSpPr>
        <p:spPr>
          <a:xfrm>
            <a:off x="8148005" y="4623792"/>
            <a:ext cx="33877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CCCCCC"/>
                </a:solidFill>
              </a:rPr>
              <a:t>~0.02%</a:t>
            </a:r>
            <a:endParaRPr lang="en-US" sz="727" dirty="0"/>
          </a:p>
        </p:txBody>
      </p:sp>
      <p:sp>
        <p:nvSpPr>
          <p:cNvPr id="34" name="Text 31"/>
          <p:cNvSpPr/>
          <p:nvPr/>
        </p:nvSpPr>
        <p:spPr>
          <a:xfrm>
            <a:off x="4657725" y="4802386"/>
            <a:ext cx="121240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4D4D"/>
                </a:solidFill>
              </a:rPr>
              <a:t>Total Round-Trip Cost</a:t>
            </a:r>
            <a:endParaRPr lang="en-US" sz="784" dirty="0"/>
          </a:p>
        </p:txBody>
      </p:sp>
      <p:sp>
        <p:nvSpPr>
          <p:cNvPr id="35" name="Text 32"/>
          <p:cNvSpPr/>
          <p:nvPr/>
        </p:nvSpPr>
        <p:spPr>
          <a:xfrm>
            <a:off x="8089683" y="4802386"/>
            <a:ext cx="397092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4D4D"/>
                </a:solidFill>
              </a:rPr>
              <a:t>~0.14%</a:t>
            </a:r>
            <a:endParaRPr lang="en-US" sz="784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428625"/>
            <a:ext cx="8001000" cy="720068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571500" y="428625"/>
            <a:ext cx="42863" cy="720068"/>
          </a:xfrm>
          <a:prstGeom prst="rect">
            <a:avLst/>
          </a:prstGeom>
          <a:solidFill>
            <a:srgbClr val="FF4D4D"/>
          </a:solidFill>
          <a:ln/>
        </p:spPr>
      </p:sp>
      <p:sp>
        <p:nvSpPr>
          <p:cNvPr id="5" name="Text 2"/>
          <p:cNvSpPr/>
          <p:nvPr/>
        </p:nvSpPr>
        <p:spPr>
          <a:xfrm>
            <a:off x="785813" y="428625"/>
            <a:ext cx="7786688" cy="7200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121" b="1" dirty="0">
                <a:solidFill>
                  <a:srgbClr val="1A1D21"/>
                </a:solidFill>
              </a:rPr>
              <a:t>多层风控体系确保策略</a:t>
            </a:r>
            <a:pPr algn="l" indent="0" marL="0">
              <a:lnSpc>
                <a:spcPts val="2800"/>
              </a:lnSpc>
              <a:buNone/>
            </a:pPr>
            <a:r>
              <a:rPr lang="en-US" sz="2121" b="1" dirty="0">
                <a:solidFill>
                  <a:srgbClr val="1A1D21"/>
                </a:solidFill>
              </a:rPr>
              <a:t>
</a:t>
            </a:r>
            <a:pPr algn="l" indent="0" marL="0">
              <a:lnSpc>
                <a:spcPts val="2800"/>
              </a:lnSpc>
              <a:buNone/>
            </a:pPr>
            <a:r>
              <a:rPr lang="en-US" sz="2121" b="1" dirty="0">
                <a:solidFill>
                  <a:srgbClr val="1A1D21"/>
                </a:solidFill>
              </a:rPr>
              <a:t>风险可控</a:t>
            </a:r>
            <a:endParaRPr lang="en-US" sz="2121" dirty="0"/>
          </a:p>
        </p:txBody>
      </p:sp>
      <p:sp>
        <p:nvSpPr>
          <p:cNvPr id="6" name="Shape 3"/>
          <p:cNvSpPr/>
          <p:nvPr/>
        </p:nvSpPr>
        <p:spPr>
          <a:xfrm>
            <a:off x="571500" y="1434443"/>
            <a:ext cx="8001000" cy="100012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Shape 4"/>
          <p:cNvSpPr/>
          <p:nvPr/>
        </p:nvSpPr>
        <p:spPr>
          <a:xfrm>
            <a:off x="571500" y="1434443"/>
            <a:ext cx="57150" cy="1000125"/>
          </a:xfrm>
          <a:prstGeom prst="rect">
            <a:avLst/>
          </a:prstGeom>
          <a:solidFill>
            <a:srgbClr val="0052CC"/>
          </a:solidFill>
          <a:ln/>
        </p:spPr>
      </p:sp>
      <p:sp>
        <p:nvSpPr>
          <p:cNvPr id="8" name="Shape 5"/>
          <p:cNvSpPr/>
          <p:nvPr/>
        </p:nvSpPr>
        <p:spPr>
          <a:xfrm>
            <a:off x="571500" y="1434443"/>
            <a:ext cx="1785938" cy="1000125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9" name="Shape 6"/>
          <p:cNvSpPr/>
          <p:nvPr/>
        </p:nvSpPr>
        <p:spPr>
          <a:xfrm>
            <a:off x="2350294" y="1434443"/>
            <a:ext cx="7144" cy="1000125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0" name="Text 7"/>
          <p:cNvSpPr/>
          <p:nvPr/>
        </p:nvSpPr>
        <p:spPr>
          <a:xfrm>
            <a:off x="714375" y="1733587"/>
            <a:ext cx="1500188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spc="1" kern="0" dirty="0">
                <a:solidFill>
                  <a:srgbClr val="666666"/>
                </a:solidFill>
              </a:rPr>
              <a:t>Layer 01</a:t>
            </a:r>
            <a:endParaRPr lang="en-US" sz="621" dirty="0"/>
          </a:p>
        </p:txBody>
      </p:sp>
      <p:sp>
        <p:nvSpPr>
          <p:cNvPr id="11" name="Text 8"/>
          <p:cNvSpPr/>
          <p:nvPr/>
        </p:nvSpPr>
        <p:spPr>
          <a:xfrm>
            <a:off x="714375" y="1885392"/>
            <a:ext cx="1500188" cy="2500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A1D21"/>
                </a:solidFill>
              </a:rPr>
              <a:t>单笔止损</a:t>
            </a:r>
            <a:endParaRPr lang="en-US" sz="1193" dirty="0"/>
          </a:p>
        </p:txBody>
      </p:sp>
      <p:sp>
        <p:nvSpPr>
          <p:cNvPr id="12" name="Text 9"/>
          <p:cNvSpPr/>
          <p:nvPr/>
        </p:nvSpPr>
        <p:spPr>
          <a:xfrm>
            <a:off x="2500313" y="1714835"/>
            <a:ext cx="1010589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333840"/>
                </a:solidFill>
              </a:rPr>
              <a:t>动态ATR止损机制</a:t>
            </a:r>
            <a:endParaRPr lang="en-US" sz="885" dirty="0"/>
          </a:p>
        </p:txBody>
      </p:sp>
      <p:sp>
        <p:nvSpPr>
          <p:cNvPr id="13" name="Text 10"/>
          <p:cNvSpPr/>
          <p:nvPr/>
        </p:nvSpPr>
        <p:spPr>
          <a:xfrm>
            <a:off x="2500313" y="1970224"/>
            <a:ext cx="3786188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333840"/>
                </a:solidFill>
              </a:rPr>
              <a:t>根据市场波动率自动调整止损宽度，防止单次交易造成过大亏损。</a:t>
            </a:r>
            <a:endParaRPr lang="en-US" sz="942" dirty="0"/>
          </a:p>
        </p:txBody>
      </p:sp>
      <p:sp>
        <p:nvSpPr>
          <p:cNvPr id="14" name="Shape 11"/>
          <p:cNvSpPr/>
          <p:nvPr/>
        </p:nvSpPr>
        <p:spPr>
          <a:xfrm>
            <a:off x="6429375" y="1434443"/>
            <a:ext cx="2143125" cy="1000125"/>
          </a:xfrm>
          <a:prstGeom prst="rect">
            <a:avLst/>
          </a:prstGeom>
          <a:solidFill>
            <a:srgbClr val="1A1D21"/>
          </a:solidFill>
          <a:ln/>
        </p:spPr>
      </p:sp>
      <p:sp>
        <p:nvSpPr>
          <p:cNvPr id="15" name="Text 12"/>
          <p:cNvSpPr/>
          <p:nvPr/>
        </p:nvSpPr>
        <p:spPr>
          <a:xfrm>
            <a:off x="6572250" y="1640718"/>
            <a:ext cx="1857375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888888"/>
                </a:solidFill>
              </a:rPr>
              <a:t>Trigger Condition</a:t>
            </a:r>
            <a:endParaRPr lang="en-US" sz="621" dirty="0"/>
          </a:p>
        </p:txBody>
      </p:sp>
      <p:sp>
        <p:nvSpPr>
          <p:cNvPr id="16" name="Text 13"/>
          <p:cNvSpPr/>
          <p:nvPr/>
        </p:nvSpPr>
        <p:spPr>
          <a:xfrm>
            <a:off x="6572250" y="1828242"/>
            <a:ext cx="185737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87" b="1" dirty="0">
                <a:solidFill>
                  <a:srgbClr val="FF4D4D"/>
                </a:solidFill>
              </a:rPr>
              <a:t>回撤 &gt; 2.5 × ATR</a:t>
            </a:r>
            <a:pPr algn="l" indent="0" marL="0">
              <a:lnSpc>
                <a:spcPts val="1600"/>
              </a:lnSpc>
              <a:buNone/>
            </a:pPr>
            <a:r>
              <a:rPr lang="en-US" sz="987" b="1" dirty="0">
                <a:solidFill>
                  <a:srgbClr val="FF4D4D"/>
                </a:solidFill>
              </a:rPr>
              <a:t>
</a:t>
            </a:r>
            <a:pPr algn="l" indent="0" marL="0">
              <a:lnSpc>
                <a:spcPts val="1600"/>
              </a:lnSpc>
              <a:buNone/>
            </a:pPr>
            <a:r>
              <a:rPr lang="en-US" sz="987" b="1" dirty="0">
                <a:solidFill>
                  <a:srgbClr val="FF4D4D"/>
                </a:solidFill>
              </a:rPr>
              <a:t>→ 强制平仓</a:t>
            </a:r>
            <a:endParaRPr lang="en-US" sz="987" dirty="0"/>
          </a:p>
        </p:txBody>
      </p:sp>
      <p:sp>
        <p:nvSpPr>
          <p:cNvPr id="17" name="Shape 14"/>
          <p:cNvSpPr/>
          <p:nvPr/>
        </p:nvSpPr>
        <p:spPr>
          <a:xfrm>
            <a:off x="571500" y="2491718"/>
            <a:ext cx="8001000" cy="100012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Shape 15"/>
          <p:cNvSpPr/>
          <p:nvPr/>
        </p:nvSpPr>
        <p:spPr>
          <a:xfrm>
            <a:off x="571500" y="2491718"/>
            <a:ext cx="57150" cy="1000125"/>
          </a:xfrm>
          <a:prstGeom prst="rect">
            <a:avLst/>
          </a:prstGeom>
          <a:solidFill>
            <a:srgbClr val="FF4D4D"/>
          </a:solidFill>
          <a:ln/>
        </p:spPr>
      </p:sp>
      <p:sp>
        <p:nvSpPr>
          <p:cNvPr id="19" name="Shape 16"/>
          <p:cNvSpPr/>
          <p:nvPr/>
        </p:nvSpPr>
        <p:spPr>
          <a:xfrm>
            <a:off x="571500" y="2491718"/>
            <a:ext cx="1785938" cy="1000125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20" name="Shape 17"/>
          <p:cNvSpPr/>
          <p:nvPr/>
        </p:nvSpPr>
        <p:spPr>
          <a:xfrm>
            <a:off x="2350294" y="2491718"/>
            <a:ext cx="7144" cy="1000125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21" name="Text 18"/>
          <p:cNvSpPr/>
          <p:nvPr/>
        </p:nvSpPr>
        <p:spPr>
          <a:xfrm>
            <a:off x="714375" y="2790862"/>
            <a:ext cx="1500188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spc="1" kern="0" dirty="0">
                <a:solidFill>
                  <a:srgbClr val="666666"/>
                </a:solidFill>
              </a:rPr>
              <a:t>Layer 02</a:t>
            </a:r>
            <a:endParaRPr lang="en-US" sz="621" dirty="0"/>
          </a:p>
        </p:txBody>
      </p:sp>
      <p:sp>
        <p:nvSpPr>
          <p:cNvPr id="22" name="Text 19"/>
          <p:cNvSpPr/>
          <p:nvPr/>
        </p:nvSpPr>
        <p:spPr>
          <a:xfrm>
            <a:off x="714375" y="2942667"/>
            <a:ext cx="1500188" cy="2500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A1D21"/>
                </a:solidFill>
              </a:rPr>
              <a:t>组合止损</a:t>
            </a:r>
            <a:endParaRPr lang="en-US" sz="1193" dirty="0"/>
          </a:p>
        </p:txBody>
      </p:sp>
      <p:sp>
        <p:nvSpPr>
          <p:cNvPr id="23" name="Text 20"/>
          <p:cNvSpPr/>
          <p:nvPr/>
        </p:nvSpPr>
        <p:spPr>
          <a:xfrm>
            <a:off x="2500313" y="2763180"/>
            <a:ext cx="3786188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333840"/>
                </a:solidFill>
              </a:rPr>
              <a:t>日内回撤控制:</a:t>
            </a:r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333840"/>
                </a:solidFill>
              </a:rPr>
              <a:t> 当日净值回撤超过阈值，快速降低仓位。</a:t>
            </a:r>
            <a:endParaRPr lang="en-US" sz="885" dirty="0"/>
          </a:p>
        </p:txBody>
      </p:sp>
      <p:sp>
        <p:nvSpPr>
          <p:cNvPr id="24" name="Text 21"/>
          <p:cNvSpPr/>
          <p:nvPr/>
        </p:nvSpPr>
        <p:spPr>
          <a:xfrm>
            <a:off x="2500313" y="3027499"/>
            <a:ext cx="3786188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333840"/>
                </a:solidFill>
              </a:rPr>
              <a:t>周度熔断机制:</a:t>
            </a:r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333840"/>
                </a:solidFill>
              </a:rPr>
              <a:t> 连续亏损触发交易暂停，强制复盘。</a:t>
            </a:r>
            <a:endParaRPr lang="en-US" sz="885" dirty="0"/>
          </a:p>
        </p:txBody>
      </p:sp>
      <p:sp>
        <p:nvSpPr>
          <p:cNvPr id="25" name="Shape 22"/>
          <p:cNvSpPr/>
          <p:nvPr/>
        </p:nvSpPr>
        <p:spPr>
          <a:xfrm>
            <a:off x="6429375" y="2491718"/>
            <a:ext cx="2143125" cy="1000125"/>
          </a:xfrm>
          <a:prstGeom prst="rect">
            <a:avLst/>
          </a:prstGeom>
          <a:solidFill>
            <a:srgbClr val="1A1D21"/>
          </a:solidFill>
          <a:ln/>
        </p:spPr>
      </p:sp>
      <p:sp>
        <p:nvSpPr>
          <p:cNvPr id="26" name="Text 23"/>
          <p:cNvSpPr/>
          <p:nvPr/>
        </p:nvSpPr>
        <p:spPr>
          <a:xfrm>
            <a:off x="6572250" y="2697993"/>
            <a:ext cx="1857375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888888"/>
                </a:solidFill>
              </a:rPr>
              <a:t>Trigger Condition</a:t>
            </a:r>
            <a:endParaRPr lang="en-US" sz="621" dirty="0"/>
          </a:p>
        </p:txBody>
      </p:sp>
      <p:sp>
        <p:nvSpPr>
          <p:cNvPr id="27" name="Text 24"/>
          <p:cNvSpPr/>
          <p:nvPr/>
        </p:nvSpPr>
        <p:spPr>
          <a:xfrm>
            <a:off x="6572250" y="2885517"/>
            <a:ext cx="185737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87" b="1" dirty="0">
                <a:solidFill>
                  <a:srgbClr val="FF4D4D"/>
                </a:solidFill>
              </a:rPr>
              <a:t>日: &lt; -3% (仓位×0.3)</a:t>
            </a:r>
            <a:pPr algn="l" indent="0" marL="0">
              <a:lnSpc>
                <a:spcPts val="1600"/>
              </a:lnSpc>
              <a:buNone/>
            </a:pPr>
            <a:r>
              <a:rPr lang="en-US" sz="987" b="1" dirty="0">
                <a:solidFill>
                  <a:srgbClr val="FF4D4D"/>
                </a:solidFill>
              </a:rPr>
              <a:t>
</a:t>
            </a:r>
            <a:pPr algn="l" indent="0" marL="0">
              <a:lnSpc>
                <a:spcPts val="1600"/>
              </a:lnSpc>
              <a:buNone/>
            </a:pPr>
            <a:r>
              <a:rPr lang="en-US" sz="987" b="1" dirty="0">
                <a:solidFill>
                  <a:srgbClr val="FF4D4D"/>
                </a:solidFill>
              </a:rPr>
              <a:t>周: &lt; -8% (停开仓24h)</a:t>
            </a:r>
            <a:endParaRPr lang="en-US" sz="987" dirty="0"/>
          </a:p>
        </p:txBody>
      </p:sp>
      <p:sp>
        <p:nvSpPr>
          <p:cNvPr id="28" name="Shape 25"/>
          <p:cNvSpPr/>
          <p:nvPr/>
        </p:nvSpPr>
        <p:spPr>
          <a:xfrm>
            <a:off x="571500" y="3548993"/>
            <a:ext cx="8001000" cy="100012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9" name="Shape 26"/>
          <p:cNvSpPr/>
          <p:nvPr/>
        </p:nvSpPr>
        <p:spPr>
          <a:xfrm>
            <a:off x="571500" y="3548993"/>
            <a:ext cx="57150" cy="1000125"/>
          </a:xfrm>
          <a:prstGeom prst="rect">
            <a:avLst/>
          </a:prstGeom>
          <a:solidFill>
            <a:srgbClr val="1A1D21"/>
          </a:solidFill>
          <a:ln/>
        </p:spPr>
      </p:sp>
      <p:sp>
        <p:nvSpPr>
          <p:cNvPr id="30" name="Shape 27"/>
          <p:cNvSpPr/>
          <p:nvPr/>
        </p:nvSpPr>
        <p:spPr>
          <a:xfrm>
            <a:off x="571500" y="3548993"/>
            <a:ext cx="1785938" cy="1000125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31" name="Shape 28"/>
          <p:cNvSpPr/>
          <p:nvPr/>
        </p:nvSpPr>
        <p:spPr>
          <a:xfrm>
            <a:off x="2350294" y="3548993"/>
            <a:ext cx="7144" cy="1000125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32" name="Text 29"/>
          <p:cNvSpPr/>
          <p:nvPr/>
        </p:nvSpPr>
        <p:spPr>
          <a:xfrm>
            <a:off x="714375" y="3848137"/>
            <a:ext cx="1500188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spc="1" kern="0" dirty="0">
                <a:solidFill>
                  <a:srgbClr val="666666"/>
                </a:solidFill>
              </a:rPr>
              <a:t>Layer 03</a:t>
            </a:r>
            <a:endParaRPr lang="en-US" sz="621" dirty="0"/>
          </a:p>
        </p:txBody>
      </p:sp>
      <p:sp>
        <p:nvSpPr>
          <p:cNvPr id="33" name="Text 30"/>
          <p:cNvSpPr/>
          <p:nvPr/>
        </p:nvSpPr>
        <p:spPr>
          <a:xfrm>
            <a:off x="714375" y="3999942"/>
            <a:ext cx="1500188" cy="2500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A1D21"/>
                </a:solidFill>
              </a:rPr>
              <a:t>强平保护</a:t>
            </a:r>
            <a:endParaRPr lang="en-US" sz="1193" dirty="0"/>
          </a:p>
        </p:txBody>
      </p:sp>
      <p:sp>
        <p:nvSpPr>
          <p:cNvPr id="34" name="Text 31"/>
          <p:cNvSpPr/>
          <p:nvPr/>
        </p:nvSpPr>
        <p:spPr>
          <a:xfrm>
            <a:off x="2500313" y="3732944"/>
            <a:ext cx="642965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333840"/>
                </a:solidFill>
              </a:rPr>
              <a:t>系统级风控</a:t>
            </a:r>
            <a:endParaRPr lang="en-US" sz="885" dirty="0"/>
          </a:p>
        </p:txBody>
      </p:sp>
      <p:sp>
        <p:nvSpPr>
          <p:cNvPr id="35" name="Text 32"/>
          <p:cNvSpPr/>
          <p:nvPr/>
        </p:nvSpPr>
        <p:spPr>
          <a:xfrm>
            <a:off x="2500313" y="3988333"/>
            <a:ext cx="3786188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333840"/>
                </a:solidFill>
              </a:rPr>
              <a:t>限制最大杠杆倍数，使用 Reduce-only 模式，实时监控维持保证金率。</a:t>
            </a:r>
            <a:endParaRPr lang="en-US" sz="942" dirty="0"/>
          </a:p>
        </p:txBody>
      </p:sp>
      <p:sp>
        <p:nvSpPr>
          <p:cNvPr id="36" name="Shape 33"/>
          <p:cNvSpPr/>
          <p:nvPr/>
        </p:nvSpPr>
        <p:spPr>
          <a:xfrm>
            <a:off x="6429375" y="3548993"/>
            <a:ext cx="2143125" cy="1000125"/>
          </a:xfrm>
          <a:prstGeom prst="rect">
            <a:avLst/>
          </a:prstGeom>
          <a:solidFill>
            <a:srgbClr val="1A1D21"/>
          </a:solidFill>
          <a:ln/>
        </p:spPr>
      </p:sp>
      <p:sp>
        <p:nvSpPr>
          <p:cNvPr id="37" name="Text 34"/>
          <p:cNvSpPr/>
          <p:nvPr/>
        </p:nvSpPr>
        <p:spPr>
          <a:xfrm>
            <a:off x="6572250" y="3755268"/>
            <a:ext cx="1857375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888888"/>
                </a:solidFill>
              </a:rPr>
              <a:t>Trigger Condition</a:t>
            </a:r>
            <a:endParaRPr lang="en-US" sz="621" dirty="0"/>
          </a:p>
        </p:txBody>
      </p:sp>
      <p:sp>
        <p:nvSpPr>
          <p:cNvPr id="38" name="Text 35"/>
          <p:cNvSpPr/>
          <p:nvPr/>
        </p:nvSpPr>
        <p:spPr>
          <a:xfrm>
            <a:off x="6572250" y="3942792"/>
            <a:ext cx="185737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87" b="1" dirty="0">
                <a:solidFill>
                  <a:srgbClr val="FF4D4D"/>
                </a:solidFill>
              </a:rPr>
              <a:t>预警线触发</a:t>
            </a:r>
            <a:pPr algn="l" indent="0" marL="0">
              <a:lnSpc>
                <a:spcPts val="1600"/>
              </a:lnSpc>
              <a:buNone/>
            </a:pPr>
            <a:r>
              <a:rPr lang="en-US" sz="987" b="1" dirty="0">
                <a:solidFill>
                  <a:srgbClr val="FF4D4D"/>
                </a:solidFill>
              </a:rPr>
              <a:t>
</a:t>
            </a:r>
            <a:pPr algn="l" indent="0" marL="0">
              <a:lnSpc>
                <a:spcPts val="1600"/>
              </a:lnSpc>
              <a:buNone/>
            </a:pPr>
            <a:r>
              <a:rPr lang="en-US" sz="987" b="1" dirty="0">
                <a:solidFill>
                  <a:srgbClr val="FF4D4D"/>
                </a:solidFill>
              </a:rPr>
              <a:t>→ 禁止开新仓</a:t>
            </a:r>
            <a:endParaRPr lang="en-US" sz="987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428458"/>
            <a:ext cx="8001000" cy="720068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571500" y="428458"/>
            <a:ext cx="42863" cy="720068"/>
          </a:xfrm>
          <a:prstGeom prst="rect">
            <a:avLst/>
          </a:prstGeom>
          <a:solidFill>
            <a:srgbClr val="0052CC"/>
          </a:solidFill>
          <a:ln/>
        </p:spPr>
      </p:sp>
      <p:sp>
        <p:nvSpPr>
          <p:cNvPr id="5" name="Text 2"/>
          <p:cNvSpPr/>
          <p:nvPr/>
        </p:nvSpPr>
        <p:spPr>
          <a:xfrm>
            <a:off x="785813" y="428458"/>
            <a:ext cx="7786688" cy="7200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121" b="1" dirty="0">
                <a:solidFill>
                  <a:srgbClr val="1A1D21"/>
                </a:solidFill>
              </a:rPr>
              <a:t>策略参数配置化支持</a:t>
            </a:r>
            <a:pPr algn="l" indent="0" marL="0">
              <a:lnSpc>
                <a:spcPts val="2800"/>
              </a:lnSpc>
              <a:buNone/>
            </a:pPr>
            <a:r>
              <a:rPr lang="en-US" sz="2121" b="1" dirty="0">
                <a:solidFill>
                  <a:srgbClr val="1A1D21"/>
                </a:solidFill>
              </a:rPr>
              <a:t>
</a:t>
            </a:r>
            <a:pPr algn="l" indent="0" marL="0">
              <a:lnSpc>
                <a:spcPts val="2800"/>
              </a:lnSpc>
              <a:buNone/>
            </a:pPr>
            <a:r>
              <a:rPr lang="en-US" sz="2121" b="1" dirty="0">
                <a:solidFill>
                  <a:srgbClr val="1A1D21"/>
                </a:solidFill>
              </a:rPr>
              <a:t>快速迭代</a:t>
            </a:r>
            <a:endParaRPr lang="en-US" sz="2121" dirty="0"/>
          </a:p>
        </p:txBody>
      </p:sp>
      <p:sp>
        <p:nvSpPr>
          <p:cNvPr id="6" name="Text 3"/>
          <p:cNvSpPr/>
          <p:nvPr/>
        </p:nvSpPr>
        <p:spPr>
          <a:xfrm>
            <a:off x="728663" y="1725216"/>
            <a:ext cx="3349749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A1D21"/>
                </a:solidFill>
              </a:rPr>
              <a:t>一致性保障 (Consistency)</a:t>
            </a:r>
            <a:endParaRPr lang="en-US" sz="987" dirty="0"/>
          </a:p>
        </p:txBody>
      </p:sp>
      <p:sp>
        <p:nvSpPr>
          <p:cNvPr id="7" name="Text 4"/>
          <p:cNvSpPr/>
          <p:nvPr/>
        </p:nvSpPr>
        <p:spPr>
          <a:xfrm>
            <a:off x="728663" y="1989534"/>
            <a:ext cx="3349749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333840"/>
                </a:solidFill>
              </a:rPr>
              <a:t>回测引擎与实盘交易系统加载同一份配置文件，彻底消除"回测过度拟合、实盘参数偏差"的风险。</a:t>
            </a:r>
            <a:endParaRPr lang="en-US" sz="834" dirty="0"/>
          </a:p>
        </p:txBody>
      </p:sp>
      <p:sp>
        <p:nvSpPr>
          <p:cNvPr id="8" name="Text 5"/>
          <p:cNvSpPr/>
          <p:nvPr/>
        </p:nvSpPr>
        <p:spPr>
          <a:xfrm>
            <a:off x="728663" y="2475309"/>
            <a:ext cx="3349749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A1D21"/>
                </a:solidFill>
              </a:rPr>
              <a:t>版本管理 (Version Control)</a:t>
            </a:r>
            <a:endParaRPr lang="en-US" sz="987" dirty="0"/>
          </a:p>
        </p:txBody>
      </p:sp>
      <p:sp>
        <p:nvSpPr>
          <p:cNvPr id="9" name="Text 6"/>
          <p:cNvSpPr/>
          <p:nvPr/>
        </p:nvSpPr>
        <p:spPr>
          <a:xfrm>
            <a:off x="728663" y="2739628"/>
            <a:ext cx="3349749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333840"/>
                </a:solidFill>
              </a:rPr>
              <a:t>将YAML文件纳入Git管理。每一次参数调整都有迹可循，支持随时回滚到历史表现最佳的参数组合。</a:t>
            </a:r>
            <a:endParaRPr lang="en-US" sz="834" dirty="0"/>
          </a:p>
        </p:txBody>
      </p:sp>
      <p:sp>
        <p:nvSpPr>
          <p:cNvPr id="10" name="Text 7"/>
          <p:cNvSpPr/>
          <p:nvPr/>
        </p:nvSpPr>
        <p:spPr>
          <a:xfrm>
            <a:off x="728663" y="3225403"/>
            <a:ext cx="3349749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A1D21"/>
                </a:solidFill>
              </a:rPr>
              <a:t>敏捷迭代 (Agility)</a:t>
            </a:r>
            <a:endParaRPr lang="en-US" sz="987" dirty="0"/>
          </a:p>
        </p:txBody>
      </p:sp>
      <p:sp>
        <p:nvSpPr>
          <p:cNvPr id="11" name="Text 8"/>
          <p:cNvSpPr/>
          <p:nvPr/>
        </p:nvSpPr>
        <p:spPr>
          <a:xfrm>
            <a:off x="728663" y="3489722"/>
            <a:ext cx="3349749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333840"/>
                </a:solidFill>
              </a:rPr>
              <a:t>支持A/B测试。无需修改代码逻辑，仅需替换配置文件即可并行运行多组参数，加速策略优化。</a:t>
            </a:r>
            <a:endParaRPr lang="en-US" sz="834" dirty="0"/>
          </a:p>
        </p:txBody>
      </p:sp>
      <p:sp>
        <p:nvSpPr>
          <p:cNvPr id="12" name="Shape 9"/>
          <p:cNvSpPr/>
          <p:nvPr/>
        </p:nvSpPr>
        <p:spPr>
          <a:xfrm>
            <a:off x="571500" y="4061222"/>
            <a:ext cx="3506912" cy="548618"/>
          </a:xfrm>
          <a:prstGeom prst="rect">
            <a:avLst/>
          </a:prstGeom>
          <a:solidFill>
            <a:srgbClr val="E3F2FD"/>
          </a:solidFill>
          <a:ln/>
        </p:spPr>
      </p:sp>
      <p:sp>
        <p:nvSpPr>
          <p:cNvPr id="13" name="Shape 10"/>
          <p:cNvSpPr/>
          <p:nvPr/>
        </p:nvSpPr>
        <p:spPr>
          <a:xfrm>
            <a:off x="571500" y="4061222"/>
            <a:ext cx="28575" cy="548618"/>
          </a:xfrm>
          <a:prstGeom prst="rect">
            <a:avLst/>
          </a:prstGeom>
          <a:solidFill>
            <a:srgbClr val="0052CC"/>
          </a:solidFill>
          <a:ln/>
        </p:spPr>
      </p:sp>
      <p:sp>
        <p:nvSpPr>
          <p:cNvPr id="14" name="Text 11"/>
          <p:cNvSpPr/>
          <p:nvPr/>
        </p:nvSpPr>
        <p:spPr>
          <a:xfrm>
            <a:off x="685800" y="4175522"/>
            <a:ext cx="3278312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84" b="1" dirty="0">
                <a:solidFill>
                  <a:srgbClr val="0052CC"/>
                </a:solidFill>
              </a:rPr>
              <a:t>"Code defines Logic, Config defines Behavior."</a:t>
            </a:r>
            <a:pPr algn="l" indent="0" marL="0">
              <a:lnSpc>
                <a:spcPts val="1300"/>
              </a:lnSpc>
              <a:buNone/>
            </a:pPr>
            <a:r>
              <a:rPr lang="en-US" sz="784" b="1" dirty="0">
                <a:solidFill>
                  <a:srgbClr val="0052CC"/>
                </a:solidFill>
              </a:rPr>
              <a:t>
</a:t>
            </a:r>
            <a:pPr algn="l" indent="0" marL="0">
              <a:lnSpc>
                <a:spcPts val="1300"/>
              </a:lnSpc>
              <a:buNone/>
            </a:pPr>
            <a:r>
              <a:rPr lang="en-US" sz="784" b="1" dirty="0">
                <a:solidFill>
                  <a:srgbClr val="0052CC"/>
                </a:solidFill>
              </a:rPr>
              <a:t> 代码定义逻辑，配置定义行为。</a:t>
            </a:r>
            <a:endParaRPr lang="en-US" sz="784" dirty="0"/>
          </a:p>
        </p:txBody>
      </p:sp>
      <p:sp>
        <p:nvSpPr>
          <p:cNvPr id="15" name="Shape 12"/>
          <p:cNvSpPr/>
          <p:nvPr/>
        </p:nvSpPr>
        <p:spPr>
          <a:xfrm>
            <a:off x="4364162" y="1362838"/>
            <a:ext cx="4208338" cy="3609380"/>
          </a:xfrm>
          <a:prstGeom prst="rect">
            <a:avLst/>
          </a:prstGeom>
          <a:solidFill>
            <a:srgbClr val="1A1D21"/>
          </a:solidFill>
          <a:ln/>
        </p:spPr>
      </p:sp>
      <p:sp>
        <p:nvSpPr>
          <p:cNvPr id="16" name="Shape 13"/>
          <p:cNvSpPr/>
          <p:nvPr/>
        </p:nvSpPr>
        <p:spPr>
          <a:xfrm>
            <a:off x="4364162" y="1362838"/>
            <a:ext cx="4208338" cy="266105"/>
          </a:xfrm>
          <a:prstGeom prst="rect">
            <a:avLst/>
          </a:prstGeom>
          <a:solidFill>
            <a:srgbClr val="2B3036"/>
          </a:solidFill>
          <a:ln/>
        </p:spPr>
      </p:sp>
      <p:sp>
        <p:nvSpPr>
          <p:cNvPr id="17" name="Shape 14"/>
          <p:cNvSpPr/>
          <p:nvPr/>
        </p:nvSpPr>
        <p:spPr>
          <a:xfrm>
            <a:off x="4364162" y="1621799"/>
            <a:ext cx="4208338" cy="7144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18" name="Text 15"/>
          <p:cNvSpPr/>
          <p:nvPr/>
        </p:nvSpPr>
        <p:spPr>
          <a:xfrm>
            <a:off x="4507037" y="1437847"/>
            <a:ext cx="1030346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CCCCCC"/>
                </a:solidFill>
              </a:rPr>
              <a:t>strategy_v1_config.yaml</a:t>
            </a:r>
            <a:endParaRPr lang="en-US" sz="584" dirty="0"/>
          </a:p>
        </p:txBody>
      </p:sp>
      <p:sp>
        <p:nvSpPr>
          <p:cNvPr id="19" name="Text 16"/>
          <p:cNvSpPr/>
          <p:nvPr/>
        </p:nvSpPr>
        <p:spPr>
          <a:xfrm>
            <a:off x="8208783" y="1437847"/>
            <a:ext cx="220842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888888"/>
                </a:solidFill>
              </a:rPr>
              <a:t>YAML</a:t>
            </a:r>
            <a:endParaRPr lang="en-US" sz="621" dirty="0"/>
          </a:p>
        </p:txBody>
      </p:sp>
      <p:sp>
        <p:nvSpPr>
          <p:cNvPr id="20" name="Text 17"/>
          <p:cNvSpPr/>
          <p:nvPr/>
        </p:nvSpPr>
        <p:spPr>
          <a:xfrm>
            <a:off x="4364162" y="1625371"/>
            <a:ext cx="4208338" cy="3343275"/>
          </a:xfrm>
          <a:prstGeom prst="rect">
            <a:avLst/>
          </a:prstGeom>
          <a:noFill/>
          <a:ln/>
        </p:spPr>
        <p:txBody>
          <a:bodyPr wrap="square" lIns="153035" tIns="153035" rIns="153035" bIns="153035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0" i="1" dirty="0">
                <a:solidFill>
                  <a:srgbClr val="6272A4"/>
                </a:solidFill>
              </a:rPr>
              <a:t># --- Data Parameters ---</a:t>
            </a:r>
            <a:pPr algn="l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E0E0E0"/>
                </a:solidFill>
              </a:rPr>
              <a:t>
</a:t>
            </a:r>
            <a:pPr algn="l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FF79C6"/>
                </a:solidFill>
              </a:rPr>
              <a:t>bar_interval:</a:t>
            </a:r>
            <a:pPr algn="l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F1FA8C"/>
                </a:solidFill>
              </a:rPr>
              <a:t>"5m"</a:t>
            </a:r>
            <a:pPr algn="l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E0E0E0"/>
                </a:solidFill>
              </a:rPr>
              <a:t>
</a:t>
            </a:r>
            <a:pPr algn="l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E0E0E0"/>
                </a:solidFill>
              </a:rPr>
              <a:t>
</a:t>
            </a:r>
            <a:pPr algn="l" indent="0" marL="0">
              <a:lnSpc>
                <a:spcPts val="1400"/>
              </a:lnSpc>
              <a:buNone/>
            </a:pPr>
            <a:r>
              <a:rPr lang="en-US" sz="780" i="1" dirty="0">
                <a:solidFill>
                  <a:srgbClr val="6272A4"/>
                </a:solidFill>
              </a:rPr>
              <a:t># --- Factor Parameters (Donchian) ---</a:t>
            </a:r>
            <a:pPr algn="l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E0E0E0"/>
                </a:solidFill>
              </a:rPr>
              <a:t>
</a:t>
            </a:r>
            <a:pPr algn="l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FF79C6"/>
                </a:solidFill>
              </a:rPr>
              <a:t>L_entry:</a:t>
            </a:r>
            <a:pPr algn="l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8BE9FD"/>
                </a:solidFill>
              </a:rPr>
              <a:t>72</a:t>
            </a:r>
            <a:pPr algn="l" indent="0" marL="0">
              <a:lnSpc>
                <a:spcPts val="1400"/>
              </a:lnSpc>
              <a:buNone/>
            </a:pPr>
            <a:r>
              <a:rPr lang="en-US" sz="780" i="1" dirty="0">
                <a:solidFill>
                  <a:srgbClr val="6272A4"/>
                </a:solidFill>
              </a:rPr>
              <a:t># 6 hours</a:t>
            </a:r>
            <a:pPr algn="l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E0E0E0"/>
                </a:solidFill>
              </a:rPr>
              <a:t>
</a:t>
            </a:r>
            <a:pPr algn="l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FF79C6"/>
                </a:solidFill>
              </a:rPr>
              <a:t>L_exit:</a:t>
            </a:r>
            <a:pPr algn="l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8BE9FD"/>
                </a:solidFill>
              </a:rPr>
              <a:t>24</a:t>
            </a:r>
            <a:pPr algn="l" indent="0" marL="0">
              <a:lnSpc>
                <a:spcPts val="1400"/>
              </a:lnSpc>
              <a:buNone/>
            </a:pPr>
            <a:r>
              <a:rPr lang="en-US" sz="780" i="1" dirty="0">
                <a:solidFill>
                  <a:srgbClr val="6272A4"/>
                </a:solidFill>
              </a:rPr>
              <a:t># 2 hours</a:t>
            </a:r>
            <a:pPr algn="l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E0E0E0"/>
                </a:solidFill>
              </a:rPr>
              <a:t>
</a:t>
            </a:r>
            <a:pPr algn="l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E0E0E0"/>
                </a:solidFill>
              </a:rPr>
              <a:t>
</a:t>
            </a:r>
            <a:pPr algn="l" indent="0" marL="0">
              <a:lnSpc>
                <a:spcPts val="1400"/>
              </a:lnSpc>
              <a:buNone/>
            </a:pPr>
            <a:r>
              <a:rPr lang="en-US" sz="780" i="1" dirty="0">
                <a:solidFill>
                  <a:srgbClr val="6272A4"/>
                </a:solidFill>
              </a:rPr>
              <a:t># --- Risk Parameters ---</a:t>
            </a:r>
            <a:pPr algn="l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E0E0E0"/>
                </a:solidFill>
              </a:rPr>
              <a:t>
</a:t>
            </a:r>
            <a:pPr algn="l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FF79C6"/>
                </a:solidFill>
              </a:rPr>
              <a:t>atr_len:</a:t>
            </a:r>
            <a:pPr algn="l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8BE9FD"/>
                </a:solidFill>
              </a:rPr>
              <a:t>72</a:t>
            </a:r>
            <a:pPr algn="l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E0E0E0"/>
                </a:solidFill>
              </a:rPr>
              <a:t>
</a:t>
            </a:r>
            <a:pPr algn="l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FF79C6"/>
                </a:solidFill>
              </a:rPr>
              <a:t>target_vol:</a:t>
            </a:r>
            <a:pPr algn="l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8BE9FD"/>
                </a:solidFill>
              </a:rPr>
              <a:t>0.12</a:t>
            </a:r>
            <a:pPr algn="l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E0E0E0"/>
                </a:solidFill>
              </a:rPr>
              <a:t>
</a:t>
            </a:r>
            <a:pPr algn="l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FF79C6"/>
                </a:solidFill>
              </a:rPr>
              <a:t>max_symbol_weight:</a:t>
            </a:r>
            <a:pPr algn="l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8BE9FD"/>
                </a:solidFill>
              </a:rPr>
              <a:t>0.6</a:t>
            </a:r>
            <a:pPr algn="l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E0E0E0"/>
                </a:solidFill>
              </a:rPr>
              <a:t>
</a:t>
            </a:r>
            <a:pPr algn="l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FF79C6"/>
                </a:solidFill>
              </a:rPr>
              <a:t>funding_threshold:</a:t>
            </a:r>
            <a:pPr algn="l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8BE9FD"/>
                </a:solidFill>
              </a:rPr>
              <a:t>0.0003</a:t>
            </a:r>
            <a:pPr algn="l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E0E0E0"/>
                </a:solidFill>
              </a:rPr>
              <a:t>
</a:t>
            </a:r>
            <a:pPr algn="l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FF79C6"/>
                </a:solidFill>
              </a:rPr>
              <a:t>stop_atr_multiplier:</a:t>
            </a:r>
            <a:pPr algn="l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8BE9FD"/>
                </a:solidFill>
              </a:rPr>
              <a:t>2.5</a:t>
            </a:r>
            <a:pPr algn="l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E0E0E0"/>
                </a:solidFill>
              </a:rPr>
              <a:t>
</a:t>
            </a:r>
            <a:pPr algn="l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E0E0E0"/>
                </a:solidFill>
              </a:rPr>
              <a:t>
</a:t>
            </a:r>
            <a:pPr algn="l" indent="0" marL="0">
              <a:lnSpc>
                <a:spcPts val="1400"/>
              </a:lnSpc>
              <a:buNone/>
            </a:pPr>
            <a:r>
              <a:rPr lang="en-US" sz="780" i="1" dirty="0">
                <a:solidFill>
                  <a:srgbClr val="6272A4"/>
                </a:solidFill>
              </a:rPr>
              <a:t># --- Execution Parameters ---</a:t>
            </a:r>
            <a:pPr algn="l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E0E0E0"/>
                </a:solidFill>
              </a:rPr>
              <a:t>
</a:t>
            </a:r>
            <a:pPr algn="l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FF79C6"/>
                </a:solidFill>
              </a:rPr>
              <a:t>confirm_bars:</a:t>
            </a:r>
            <a:pPr algn="l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8BE9FD"/>
                </a:solidFill>
              </a:rPr>
              <a:t>2</a:t>
            </a:r>
            <a:pPr algn="l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E0E0E0"/>
                </a:solidFill>
              </a:rPr>
              <a:t>
</a:t>
            </a:r>
            <a:pPr algn="l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FF79C6"/>
                </a:solidFill>
              </a:rPr>
              <a:t>min_hold_time:</a:t>
            </a:r>
            <a:pPr algn="l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F1FA8C"/>
                </a:solidFill>
              </a:rPr>
              <a:t>"30m"</a:t>
            </a:r>
            <a:pPr algn="l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E0E0E0"/>
                </a:solidFill>
              </a:rPr>
              <a:t>
</a:t>
            </a:r>
            <a:pPr algn="l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FF79C6"/>
                </a:solidFill>
              </a:rPr>
              <a:t>max_trades_per_hour:</a:t>
            </a:r>
            <a:pPr algn="l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8BE9FD"/>
                </a:solidFill>
              </a:rPr>
              <a:t>1</a:t>
            </a:r>
            <a:endParaRPr lang="en-US" sz="78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28625" y="428625"/>
            <a:ext cx="8286750" cy="720068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428625" y="428625"/>
            <a:ext cx="42863" cy="720068"/>
          </a:xfrm>
          <a:prstGeom prst="rect">
            <a:avLst/>
          </a:prstGeom>
          <a:solidFill>
            <a:srgbClr val="0052CC"/>
          </a:solidFill>
          <a:ln/>
        </p:spPr>
      </p:sp>
      <p:sp>
        <p:nvSpPr>
          <p:cNvPr id="5" name="Text 2"/>
          <p:cNvSpPr/>
          <p:nvPr/>
        </p:nvSpPr>
        <p:spPr>
          <a:xfrm>
            <a:off x="642938" y="428625"/>
            <a:ext cx="8072438" cy="7200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121" b="1" dirty="0">
                <a:solidFill>
                  <a:srgbClr val="1A1D21"/>
                </a:solidFill>
              </a:rPr>
              <a:t>回测评估需要覆盖收益、</a:t>
            </a:r>
            <a:pPr algn="l" indent="0" marL="0">
              <a:lnSpc>
                <a:spcPts val="2800"/>
              </a:lnSpc>
              <a:buNone/>
            </a:pPr>
            <a:r>
              <a:rPr lang="en-US" sz="2121" b="1" dirty="0">
                <a:solidFill>
                  <a:srgbClr val="1A1D21"/>
                </a:solidFill>
              </a:rPr>
              <a:t>
</a:t>
            </a:r>
            <a:pPr algn="l" indent="0" marL="0">
              <a:lnSpc>
                <a:spcPts val="2800"/>
              </a:lnSpc>
              <a:buNone/>
            </a:pPr>
            <a:r>
              <a:rPr lang="en-US" sz="2121" b="1" dirty="0">
                <a:solidFill>
                  <a:srgbClr val="1A1D21"/>
                </a:solidFill>
              </a:rPr>
              <a:t>风险和归因三个维度</a:t>
            </a:r>
            <a:endParaRPr lang="en-US" sz="2121" dirty="0"/>
          </a:p>
        </p:txBody>
      </p:sp>
      <p:sp>
        <p:nvSpPr>
          <p:cNvPr id="6" name="Shape 3"/>
          <p:cNvSpPr/>
          <p:nvPr/>
        </p:nvSpPr>
        <p:spPr>
          <a:xfrm>
            <a:off x="428625" y="1363005"/>
            <a:ext cx="2676506" cy="1109067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Shape 4"/>
          <p:cNvSpPr/>
          <p:nvPr/>
        </p:nvSpPr>
        <p:spPr>
          <a:xfrm>
            <a:off x="428625" y="1363005"/>
            <a:ext cx="2676506" cy="28575"/>
          </a:xfrm>
          <a:prstGeom prst="rect">
            <a:avLst/>
          </a:prstGeom>
          <a:solidFill>
            <a:srgbClr val="00C853"/>
          </a:solidFill>
          <a:ln/>
        </p:spPr>
      </p:sp>
      <p:sp>
        <p:nvSpPr>
          <p:cNvPr id="8" name="Text 5"/>
          <p:cNvSpPr/>
          <p:nvPr/>
        </p:nvSpPr>
        <p:spPr>
          <a:xfrm>
            <a:off x="514350" y="1448730"/>
            <a:ext cx="2505056" cy="271463"/>
          </a:xfrm>
          <a:prstGeom prst="rect">
            <a:avLst/>
          </a:prstGeom>
          <a:noFill/>
          <a:ln/>
        </p:spPr>
        <p:txBody>
          <a:bodyPr wrap="square" lIns="0" tIns="0" rIns="0" bIns="68072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spc="1" kern="0" dirty="0">
                <a:solidFill>
                  <a:srgbClr val="1A1D21"/>
                </a:solidFill>
              </a:rPr>
              <a:t>收益维度 Return</a:t>
            </a:r>
            <a:endParaRPr lang="en-US" sz="987" dirty="0"/>
          </a:p>
        </p:txBody>
      </p:sp>
      <p:sp>
        <p:nvSpPr>
          <p:cNvPr id="9" name="Text 6"/>
          <p:cNvSpPr/>
          <p:nvPr/>
        </p:nvSpPr>
        <p:spPr>
          <a:xfrm>
            <a:off x="514350" y="1777343"/>
            <a:ext cx="684321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666666"/>
                </a:solidFill>
              </a:rPr>
              <a:t>Sharpe Ratio</a:t>
            </a:r>
            <a:endParaRPr lang="en-US" sz="834" dirty="0"/>
          </a:p>
        </p:txBody>
      </p:sp>
      <p:sp>
        <p:nvSpPr>
          <p:cNvPr id="10" name="Text 7"/>
          <p:cNvSpPr/>
          <p:nvPr/>
        </p:nvSpPr>
        <p:spPr>
          <a:xfrm>
            <a:off x="2760948" y="1777343"/>
            <a:ext cx="258459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1A1D21"/>
                </a:solidFill>
              </a:rPr>
              <a:t>&gt; 2.0</a:t>
            </a:r>
            <a:endParaRPr lang="en-US" sz="784" dirty="0"/>
          </a:p>
        </p:txBody>
      </p:sp>
      <p:sp>
        <p:nvSpPr>
          <p:cNvPr id="11" name="Text 8"/>
          <p:cNvSpPr/>
          <p:nvPr/>
        </p:nvSpPr>
        <p:spPr>
          <a:xfrm>
            <a:off x="514350" y="1989869"/>
            <a:ext cx="688897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666666"/>
                </a:solidFill>
              </a:rPr>
              <a:t>Calmar Ratio</a:t>
            </a:r>
            <a:endParaRPr lang="en-US" sz="834" dirty="0"/>
          </a:p>
        </p:txBody>
      </p:sp>
      <p:sp>
        <p:nvSpPr>
          <p:cNvPr id="12" name="Text 9"/>
          <p:cNvSpPr/>
          <p:nvPr/>
        </p:nvSpPr>
        <p:spPr>
          <a:xfrm>
            <a:off x="2760948" y="1989869"/>
            <a:ext cx="258459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1A1D21"/>
                </a:solidFill>
              </a:rPr>
              <a:t>&gt; 3.0</a:t>
            </a:r>
            <a:endParaRPr lang="en-US" sz="784" dirty="0"/>
          </a:p>
        </p:txBody>
      </p:sp>
      <p:sp>
        <p:nvSpPr>
          <p:cNvPr id="13" name="Text 10"/>
          <p:cNvSpPr/>
          <p:nvPr/>
        </p:nvSpPr>
        <p:spPr>
          <a:xfrm>
            <a:off x="514350" y="2202396"/>
            <a:ext cx="63998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666666"/>
                </a:solidFill>
              </a:rPr>
              <a:t>Ann. Return</a:t>
            </a:r>
            <a:endParaRPr lang="en-US" sz="834" dirty="0"/>
          </a:p>
        </p:txBody>
      </p:sp>
      <p:sp>
        <p:nvSpPr>
          <p:cNvPr id="14" name="Text 11"/>
          <p:cNvSpPr/>
          <p:nvPr/>
        </p:nvSpPr>
        <p:spPr>
          <a:xfrm>
            <a:off x="2324230" y="2202396"/>
            <a:ext cx="695176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1A1D21"/>
                </a:solidFill>
              </a:rPr>
              <a:t>Target 50%+</a:t>
            </a:r>
            <a:endParaRPr lang="en-US" sz="784" dirty="0"/>
          </a:p>
        </p:txBody>
      </p:sp>
      <p:sp>
        <p:nvSpPr>
          <p:cNvPr id="15" name="Shape 12"/>
          <p:cNvSpPr/>
          <p:nvPr/>
        </p:nvSpPr>
        <p:spPr>
          <a:xfrm>
            <a:off x="3233719" y="1363005"/>
            <a:ext cx="2676534" cy="1109067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Shape 13"/>
          <p:cNvSpPr/>
          <p:nvPr/>
        </p:nvSpPr>
        <p:spPr>
          <a:xfrm>
            <a:off x="3233719" y="1363005"/>
            <a:ext cx="2676534" cy="28575"/>
          </a:xfrm>
          <a:prstGeom prst="rect">
            <a:avLst/>
          </a:prstGeom>
          <a:solidFill>
            <a:srgbClr val="FF4D4D"/>
          </a:solidFill>
          <a:ln/>
        </p:spPr>
      </p:sp>
      <p:sp>
        <p:nvSpPr>
          <p:cNvPr id="17" name="Text 14"/>
          <p:cNvSpPr/>
          <p:nvPr/>
        </p:nvSpPr>
        <p:spPr>
          <a:xfrm>
            <a:off x="3319444" y="1448730"/>
            <a:ext cx="2505084" cy="271463"/>
          </a:xfrm>
          <a:prstGeom prst="rect">
            <a:avLst/>
          </a:prstGeom>
          <a:noFill/>
          <a:ln/>
        </p:spPr>
        <p:txBody>
          <a:bodyPr wrap="square" lIns="0" tIns="0" rIns="0" bIns="68072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spc="1" kern="0" dirty="0">
                <a:solidFill>
                  <a:srgbClr val="1A1D21"/>
                </a:solidFill>
              </a:rPr>
              <a:t>风险维度 Risk</a:t>
            </a:r>
            <a:endParaRPr lang="en-US" sz="987" dirty="0"/>
          </a:p>
        </p:txBody>
      </p:sp>
      <p:sp>
        <p:nvSpPr>
          <p:cNvPr id="18" name="Text 15"/>
          <p:cNvSpPr/>
          <p:nvPr/>
        </p:nvSpPr>
        <p:spPr>
          <a:xfrm>
            <a:off x="3319444" y="1777343"/>
            <a:ext cx="83794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666666"/>
                </a:solidFill>
              </a:rPr>
              <a:t>Max Drawdown</a:t>
            </a:r>
            <a:endParaRPr lang="en-US" sz="834" dirty="0"/>
          </a:p>
        </p:txBody>
      </p:sp>
      <p:sp>
        <p:nvSpPr>
          <p:cNvPr id="19" name="Text 16"/>
          <p:cNvSpPr/>
          <p:nvPr/>
        </p:nvSpPr>
        <p:spPr>
          <a:xfrm>
            <a:off x="5495665" y="1777343"/>
            <a:ext cx="328864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1A1D21"/>
                </a:solidFill>
              </a:rPr>
              <a:t>&lt; 15%</a:t>
            </a:r>
            <a:endParaRPr lang="en-US" sz="784" dirty="0"/>
          </a:p>
        </p:txBody>
      </p:sp>
      <p:sp>
        <p:nvSpPr>
          <p:cNvPr id="20" name="Text 17"/>
          <p:cNvSpPr/>
          <p:nvPr/>
        </p:nvSpPr>
        <p:spPr>
          <a:xfrm>
            <a:off x="3319444" y="1989869"/>
            <a:ext cx="458344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666666"/>
                </a:solidFill>
              </a:rPr>
              <a:t>Volatility</a:t>
            </a:r>
            <a:endParaRPr lang="en-US" sz="834" dirty="0"/>
          </a:p>
        </p:txBody>
      </p:sp>
      <p:sp>
        <p:nvSpPr>
          <p:cNvPr id="21" name="Text 18"/>
          <p:cNvSpPr/>
          <p:nvPr/>
        </p:nvSpPr>
        <p:spPr>
          <a:xfrm>
            <a:off x="5194734" y="1989869"/>
            <a:ext cx="629794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1A1D21"/>
                </a:solidFill>
              </a:rPr>
              <a:t>Target 12%</a:t>
            </a:r>
            <a:endParaRPr lang="en-US" sz="784" dirty="0"/>
          </a:p>
        </p:txBody>
      </p:sp>
      <p:sp>
        <p:nvSpPr>
          <p:cNvPr id="22" name="Text 19"/>
          <p:cNvSpPr/>
          <p:nvPr/>
        </p:nvSpPr>
        <p:spPr>
          <a:xfrm>
            <a:off x="3319444" y="2202396"/>
            <a:ext cx="551966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666666"/>
                </a:solidFill>
              </a:rPr>
              <a:t>Worst Day</a:t>
            </a:r>
            <a:endParaRPr lang="en-US" sz="834" dirty="0"/>
          </a:p>
        </p:txBody>
      </p:sp>
      <p:sp>
        <p:nvSpPr>
          <p:cNvPr id="23" name="Text 20"/>
          <p:cNvSpPr/>
          <p:nvPr/>
        </p:nvSpPr>
        <p:spPr>
          <a:xfrm>
            <a:off x="5561047" y="2202396"/>
            <a:ext cx="263482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1A1D21"/>
                </a:solidFill>
              </a:rPr>
              <a:t>&lt; 3%</a:t>
            </a:r>
            <a:endParaRPr lang="en-US" sz="784" dirty="0"/>
          </a:p>
        </p:txBody>
      </p:sp>
      <p:sp>
        <p:nvSpPr>
          <p:cNvPr id="24" name="Shape 21"/>
          <p:cNvSpPr/>
          <p:nvPr/>
        </p:nvSpPr>
        <p:spPr>
          <a:xfrm>
            <a:off x="6038841" y="1363005"/>
            <a:ext cx="2676506" cy="1109067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Shape 22"/>
          <p:cNvSpPr/>
          <p:nvPr/>
        </p:nvSpPr>
        <p:spPr>
          <a:xfrm>
            <a:off x="6038841" y="1363005"/>
            <a:ext cx="2676506" cy="28575"/>
          </a:xfrm>
          <a:prstGeom prst="rect">
            <a:avLst/>
          </a:prstGeom>
          <a:solidFill>
            <a:srgbClr val="0052CC"/>
          </a:solidFill>
          <a:ln/>
        </p:spPr>
      </p:sp>
      <p:sp>
        <p:nvSpPr>
          <p:cNvPr id="26" name="Text 23"/>
          <p:cNvSpPr/>
          <p:nvPr/>
        </p:nvSpPr>
        <p:spPr>
          <a:xfrm>
            <a:off x="6124566" y="1448730"/>
            <a:ext cx="2505056" cy="271463"/>
          </a:xfrm>
          <a:prstGeom prst="rect">
            <a:avLst/>
          </a:prstGeom>
          <a:noFill/>
          <a:ln/>
        </p:spPr>
        <p:txBody>
          <a:bodyPr wrap="square" lIns="0" tIns="0" rIns="0" bIns="68072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spc="1" kern="0" dirty="0">
                <a:solidFill>
                  <a:srgbClr val="1A1D21"/>
                </a:solidFill>
              </a:rPr>
              <a:t>归因维度 Attribution</a:t>
            </a:r>
            <a:endParaRPr lang="en-US" sz="987" dirty="0"/>
          </a:p>
        </p:txBody>
      </p:sp>
      <p:sp>
        <p:nvSpPr>
          <p:cNvPr id="27" name="Text 24"/>
          <p:cNvSpPr/>
          <p:nvPr/>
        </p:nvSpPr>
        <p:spPr>
          <a:xfrm>
            <a:off x="6124566" y="1777343"/>
            <a:ext cx="477096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666666"/>
                </a:solidFill>
              </a:rPr>
              <a:t>Win Rate</a:t>
            </a:r>
            <a:endParaRPr lang="en-US" sz="834" dirty="0"/>
          </a:p>
        </p:txBody>
      </p:sp>
      <p:sp>
        <p:nvSpPr>
          <p:cNvPr id="28" name="Text 25"/>
          <p:cNvSpPr/>
          <p:nvPr/>
        </p:nvSpPr>
        <p:spPr>
          <a:xfrm>
            <a:off x="8065880" y="1777343"/>
            <a:ext cx="563742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1A1D21"/>
                </a:solidFill>
              </a:rPr>
              <a:t>40% - 45%</a:t>
            </a:r>
            <a:endParaRPr lang="en-US" sz="784" dirty="0"/>
          </a:p>
        </p:txBody>
      </p:sp>
      <p:sp>
        <p:nvSpPr>
          <p:cNvPr id="29" name="Text 26"/>
          <p:cNvSpPr/>
          <p:nvPr/>
        </p:nvSpPr>
        <p:spPr>
          <a:xfrm>
            <a:off x="6124566" y="1989869"/>
            <a:ext cx="476427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666666"/>
                </a:solidFill>
              </a:rPr>
              <a:t>P/L Ratio</a:t>
            </a:r>
            <a:endParaRPr lang="en-US" sz="834" dirty="0"/>
          </a:p>
        </p:txBody>
      </p:sp>
      <p:sp>
        <p:nvSpPr>
          <p:cNvPr id="30" name="Text 27"/>
          <p:cNvSpPr/>
          <p:nvPr/>
        </p:nvSpPr>
        <p:spPr>
          <a:xfrm>
            <a:off x="8371163" y="1989869"/>
            <a:ext cx="258459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1A1D21"/>
                </a:solidFill>
              </a:rPr>
              <a:t>&gt; 1.5</a:t>
            </a:r>
            <a:endParaRPr lang="en-US" sz="784" dirty="0"/>
          </a:p>
        </p:txBody>
      </p:sp>
      <p:sp>
        <p:nvSpPr>
          <p:cNvPr id="31" name="Text 28"/>
          <p:cNvSpPr/>
          <p:nvPr/>
        </p:nvSpPr>
        <p:spPr>
          <a:xfrm>
            <a:off x="6124566" y="2202396"/>
            <a:ext cx="603507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666666"/>
                </a:solidFill>
              </a:rPr>
              <a:t>Long/Short</a:t>
            </a:r>
            <a:endParaRPr lang="en-US" sz="834" dirty="0"/>
          </a:p>
        </p:txBody>
      </p:sp>
      <p:sp>
        <p:nvSpPr>
          <p:cNvPr id="32" name="Text 29"/>
          <p:cNvSpPr/>
          <p:nvPr/>
        </p:nvSpPr>
        <p:spPr>
          <a:xfrm>
            <a:off x="8106119" y="2202396"/>
            <a:ext cx="523503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1A1D21"/>
                </a:solidFill>
              </a:rPr>
              <a:t>Balanced</a:t>
            </a:r>
            <a:endParaRPr lang="en-US" sz="784" dirty="0"/>
          </a:p>
        </p:txBody>
      </p:sp>
      <p:sp>
        <p:nvSpPr>
          <p:cNvPr id="33" name="Shape 30"/>
          <p:cNvSpPr/>
          <p:nvPr/>
        </p:nvSpPr>
        <p:spPr>
          <a:xfrm>
            <a:off x="428625" y="2657810"/>
            <a:ext cx="4121944" cy="1544836"/>
          </a:xfrm>
          <a:prstGeom prst="rect">
            <a:avLst/>
          </a:prstGeom>
          <a:solidFill>
            <a:srgbClr val="FFFFFF"/>
          </a:solidFill>
          <a:ln w="9144">
            <a:solidFill>
              <a:srgbClr val="DDDDDD"/>
            </a:solidFill>
            <a:prstDash val="solid"/>
          </a:ln>
        </p:spPr>
      </p:sp>
      <p:pic>
        <p:nvPicPr>
          <p:cNvPr id="3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488" y="2700672"/>
            <a:ext cx="4029075" cy="1285875"/>
          </a:xfrm>
          <a:prstGeom prst="rect">
            <a:avLst/>
          </a:prstGeom>
        </p:spPr>
      </p:pic>
      <p:sp>
        <p:nvSpPr>
          <p:cNvPr id="35" name="Text 31"/>
          <p:cNvSpPr/>
          <p:nvPr/>
        </p:nvSpPr>
        <p:spPr>
          <a:xfrm>
            <a:off x="1433745" y="4029410"/>
            <a:ext cx="2104560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i="1" dirty="0">
                <a:solidFill>
                  <a:srgbClr val="888888"/>
                </a:solidFill>
              </a:rPr>
              <a:t>Figure: Weekly Return Distribution Analysis (Scatterplot)</a:t>
            </a:r>
            <a:endParaRPr lang="en-US" sz="621" dirty="0"/>
          </a:p>
        </p:txBody>
      </p:sp>
      <p:sp>
        <p:nvSpPr>
          <p:cNvPr id="36" name="Text 32"/>
          <p:cNvSpPr/>
          <p:nvPr/>
        </p:nvSpPr>
        <p:spPr>
          <a:xfrm>
            <a:off x="4686300" y="2657810"/>
            <a:ext cx="4029075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A1D21"/>
                </a:solidFill>
              </a:rPr>
              <a:t>Robustness Check</a:t>
            </a:r>
            <a:endParaRPr lang="en-US" sz="1193" dirty="0"/>
          </a:p>
        </p:txBody>
      </p:sp>
      <p:sp>
        <p:nvSpPr>
          <p:cNvPr id="37" name="Text 33"/>
          <p:cNvSpPr/>
          <p:nvPr/>
        </p:nvSpPr>
        <p:spPr>
          <a:xfrm>
            <a:off x="4686300" y="2948918"/>
            <a:ext cx="4029075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just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333840"/>
                </a:solidFill>
              </a:rPr>
              <a:t>单一参数的回测结果往往具有欺骗性。必须进行</a:t>
            </a:r>
            <a:pPr algn="just" indent="0" marL="0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333840"/>
                </a:solidFill>
              </a:rPr>
              <a:t>参数敏感性测试</a:t>
            </a:r>
            <a:pPr algn="just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333840"/>
                </a:solidFill>
              </a:rPr>
              <a:t>（Parameter Sensitivity）和</a:t>
            </a:r>
            <a:pPr algn="just" indent="0" marL="0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333840"/>
                </a:solidFill>
              </a:rPr>
              <a:t>成本压力测试</a:t>
            </a:r>
            <a:pPr algn="just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333840"/>
                </a:solidFill>
              </a:rPr>
              <a:t>。</a:t>
            </a:r>
            <a:endParaRPr lang="en-US" sz="942" dirty="0"/>
          </a:p>
        </p:txBody>
      </p:sp>
      <p:sp>
        <p:nvSpPr>
          <p:cNvPr id="38" name="Shape 34"/>
          <p:cNvSpPr/>
          <p:nvPr/>
        </p:nvSpPr>
        <p:spPr>
          <a:xfrm>
            <a:off x="4686300" y="3531803"/>
            <a:ext cx="4029075" cy="664369"/>
          </a:xfrm>
          <a:prstGeom prst="rect">
            <a:avLst/>
          </a:prstGeom>
          <a:solidFill>
            <a:srgbClr val="E3F2FD"/>
          </a:solidFill>
          <a:ln/>
        </p:spPr>
      </p:sp>
      <p:sp>
        <p:nvSpPr>
          <p:cNvPr id="39" name="Shape 35"/>
          <p:cNvSpPr/>
          <p:nvPr/>
        </p:nvSpPr>
        <p:spPr>
          <a:xfrm>
            <a:off x="4686300" y="3531803"/>
            <a:ext cx="28575" cy="664369"/>
          </a:xfrm>
          <a:prstGeom prst="rect">
            <a:avLst/>
          </a:prstGeom>
          <a:solidFill>
            <a:srgbClr val="0052CC"/>
          </a:solidFill>
          <a:ln/>
        </p:spPr>
      </p:sp>
      <p:sp>
        <p:nvSpPr>
          <p:cNvPr id="40" name="Text 36"/>
          <p:cNvSpPr/>
          <p:nvPr/>
        </p:nvSpPr>
        <p:spPr>
          <a:xfrm>
            <a:off x="4772025" y="3617528"/>
            <a:ext cx="3857625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0052CC"/>
                </a:solidFill>
              </a:rPr>
              <a:t>Cost Sensitivity Test</a:t>
            </a:r>
            <a:endParaRPr lang="en-US" sz="683" dirty="0"/>
          </a:p>
        </p:txBody>
      </p:sp>
      <p:sp>
        <p:nvSpPr>
          <p:cNvPr id="41" name="Text 37"/>
          <p:cNvSpPr/>
          <p:nvPr/>
        </p:nvSpPr>
        <p:spPr>
          <a:xfrm>
            <a:off x="4772025" y="3781834"/>
            <a:ext cx="3857625" cy="3286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测试手续费从 0.02% 提升至 0.08% 时，策略是否仍能保持正收益。若在 0.05% 时失效，则策略鲁棒性不足。</a:t>
            </a:r>
            <a:endParaRPr lang="en-US" sz="834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428625"/>
            <a:ext cx="8001000" cy="720068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571500" y="428625"/>
            <a:ext cx="42863" cy="720068"/>
          </a:xfrm>
          <a:prstGeom prst="rect">
            <a:avLst/>
          </a:prstGeom>
          <a:solidFill>
            <a:srgbClr val="0052CC"/>
          </a:solidFill>
          <a:ln/>
        </p:spPr>
      </p:sp>
      <p:sp>
        <p:nvSpPr>
          <p:cNvPr id="5" name="Text 2"/>
          <p:cNvSpPr/>
          <p:nvPr/>
        </p:nvSpPr>
        <p:spPr>
          <a:xfrm>
            <a:off x="785813" y="428625"/>
            <a:ext cx="7786688" cy="7200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121" b="1" dirty="0">
                <a:solidFill>
                  <a:srgbClr val="1A1D21"/>
                </a:solidFill>
              </a:rPr>
              <a:t>两周MVP落地计划</a:t>
            </a:r>
            <a:pPr algn="l" indent="0" marL="0">
              <a:lnSpc>
                <a:spcPts val="2800"/>
              </a:lnSpc>
              <a:buNone/>
            </a:pPr>
            <a:r>
              <a:rPr lang="en-US" sz="2121" b="1" dirty="0">
                <a:solidFill>
                  <a:srgbClr val="1A1D21"/>
                </a:solidFill>
              </a:rPr>
              <a:t>
</a:t>
            </a:r>
            <a:pPr algn="l" indent="0" marL="0">
              <a:lnSpc>
                <a:spcPts val="2800"/>
              </a:lnSpc>
              <a:buNone/>
            </a:pPr>
            <a:r>
              <a:rPr lang="en-US" sz="2121" b="1" dirty="0">
                <a:solidFill>
                  <a:srgbClr val="1A1D21"/>
                </a:solidFill>
              </a:rPr>
              <a:t>聚焦核心功能</a:t>
            </a:r>
            <a:endParaRPr lang="en-US" sz="2121" dirty="0"/>
          </a:p>
        </p:txBody>
      </p:sp>
      <p:sp>
        <p:nvSpPr>
          <p:cNvPr id="6" name="Shape 3"/>
          <p:cNvSpPr/>
          <p:nvPr/>
        </p:nvSpPr>
        <p:spPr>
          <a:xfrm>
            <a:off x="571500" y="1363005"/>
            <a:ext cx="3786188" cy="310005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Shape 4"/>
          <p:cNvSpPr/>
          <p:nvPr/>
        </p:nvSpPr>
        <p:spPr>
          <a:xfrm>
            <a:off x="571500" y="1363005"/>
            <a:ext cx="3786188" cy="57150"/>
          </a:xfrm>
          <a:prstGeom prst="rect">
            <a:avLst/>
          </a:prstGeom>
          <a:solidFill>
            <a:srgbClr val="0052CC"/>
          </a:solidFill>
          <a:ln/>
        </p:spPr>
      </p:sp>
      <p:sp>
        <p:nvSpPr>
          <p:cNvPr id="8" name="Text 5"/>
          <p:cNvSpPr/>
          <p:nvPr/>
        </p:nvSpPr>
        <p:spPr>
          <a:xfrm>
            <a:off x="714375" y="1505880"/>
            <a:ext cx="830712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1A1D21"/>
                </a:solidFill>
              </a:rPr>
              <a:t>Week 01</a:t>
            </a:r>
            <a:endParaRPr lang="en-US" sz="1397" dirty="0"/>
          </a:p>
        </p:txBody>
      </p:sp>
      <p:sp>
        <p:nvSpPr>
          <p:cNvPr id="9" name="Text 6"/>
          <p:cNvSpPr/>
          <p:nvPr/>
        </p:nvSpPr>
        <p:spPr>
          <a:xfrm>
            <a:off x="2592595" y="1614822"/>
            <a:ext cx="1622217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spc="1" kern="0" dirty="0">
                <a:solidFill>
                  <a:srgbClr val="666666"/>
                </a:solidFill>
              </a:rPr>
              <a:t>Infrastructure &amp; Research</a:t>
            </a:r>
            <a:endParaRPr lang="en-US" sz="683" dirty="0"/>
          </a:p>
        </p:txBody>
      </p:sp>
      <p:sp>
        <p:nvSpPr>
          <p:cNvPr id="10" name="Text 7"/>
          <p:cNvSpPr/>
          <p:nvPr/>
        </p:nvSpPr>
        <p:spPr>
          <a:xfrm>
            <a:off x="714375" y="2014872"/>
            <a:ext cx="3500438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0052CC"/>
                </a:solidFill>
              </a:rPr>
              <a:t>Days 1-2: Data Pipeline</a:t>
            </a:r>
            <a:endParaRPr lang="en-US" sz="683" dirty="0"/>
          </a:p>
        </p:txBody>
      </p:sp>
      <p:sp>
        <p:nvSpPr>
          <p:cNvPr id="11" name="Shape 8"/>
          <p:cNvSpPr/>
          <p:nvPr/>
        </p:nvSpPr>
        <p:spPr>
          <a:xfrm>
            <a:off x="714375" y="2264904"/>
            <a:ext cx="57150" cy="57150"/>
          </a:xfrm>
          <a:prstGeom prst="rect">
            <a:avLst/>
          </a:prstGeom>
          <a:solidFill>
            <a:srgbClr val="0052CC"/>
          </a:solidFill>
          <a:ln/>
        </p:spPr>
      </p:sp>
      <p:sp>
        <p:nvSpPr>
          <p:cNvPr id="12" name="Text 9"/>
          <p:cNvSpPr/>
          <p:nvPr/>
        </p:nvSpPr>
        <p:spPr>
          <a:xfrm>
            <a:off x="714375" y="2207754"/>
            <a:ext cx="3500438" cy="192881"/>
          </a:xfrm>
          <a:prstGeom prst="rect">
            <a:avLst/>
          </a:prstGeom>
          <a:noFill/>
          <a:ln/>
        </p:spPr>
        <p:txBody>
          <a:bodyPr wrap="none" lIns="136017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333840"/>
                </a:solidFill>
              </a:rPr>
              <a:t>接入交易所K线数据 (CCXT)</a:t>
            </a:r>
            <a:endParaRPr lang="en-US" sz="942" dirty="0"/>
          </a:p>
        </p:txBody>
      </p:sp>
      <p:sp>
        <p:nvSpPr>
          <p:cNvPr id="13" name="Shape 10"/>
          <p:cNvSpPr/>
          <p:nvPr/>
        </p:nvSpPr>
        <p:spPr>
          <a:xfrm>
            <a:off x="714375" y="2514935"/>
            <a:ext cx="57150" cy="57150"/>
          </a:xfrm>
          <a:prstGeom prst="rect">
            <a:avLst/>
          </a:prstGeom>
          <a:solidFill>
            <a:srgbClr val="0052CC"/>
          </a:solidFill>
          <a:ln/>
        </p:spPr>
      </p:sp>
      <p:sp>
        <p:nvSpPr>
          <p:cNvPr id="14" name="Text 11"/>
          <p:cNvSpPr/>
          <p:nvPr/>
        </p:nvSpPr>
        <p:spPr>
          <a:xfrm>
            <a:off x="714375" y="2457785"/>
            <a:ext cx="3500438" cy="192881"/>
          </a:xfrm>
          <a:prstGeom prst="rect">
            <a:avLst/>
          </a:prstGeom>
          <a:noFill/>
          <a:ln/>
        </p:spPr>
        <p:txBody>
          <a:bodyPr wrap="none" lIns="136017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333840"/>
                </a:solidFill>
              </a:rPr>
              <a:t>构建本地数据库 (HDF5/CSV)</a:t>
            </a:r>
            <a:endParaRPr lang="en-US" sz="942" dirty="0"/>
          </a:p>
        </p:txBody>
      </p:sp>
      <p:sp>
        <p:nvSpPr>
          <p:cNvPr id="15" name="Shape 12"/>
          <p:cNvSpPr/>
          <p:nvPr/>
        </p:nvSpPr>
        <p:spPr>
          <a:xfrm>
            <a:off x="714375" y="2764966"/>
            <a:ext cx="57150" cy="57150"/>
          </a:xfrm>
          <a:prstGeom prst="rect">
            <a:avLst/>
          </a:prstGeom>
          <a:solidFill>
            <a:srgbClr val="0052CC"/>
          </a:solidFill>
          <a:ln/>
        </p:spPr>
      </p:sp>
      <p:sp>
        <p:nvSpPr>
          <p:cNvPr id="16" name="Text 13"/>
          <p:cNvSpPr/>
          <p:nvPr/>
        </p:nvSpPr>
        <p:spPr>
          <a:xfrm>
            <a:off x="714375" y="2707816"/>
            <a:ext cx="3500438" cy="192881"/>
          </a:xfrm>
          <a:prstGeom prst="rect">
            <a:avLst/>
          </a:prstGeom>
          <a:noFill/>
          <a:ln/>
        </p:spPr>
        <p:txBody>
          <a:bodyPr wrap="none" lIns="136017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333840"/>
                </a:solidFill>
              </a:rPr>
              <a:t>数据清洗与Funding Rate对齐</a:t>
            </a:r>
            <a:endParaRPr lang="en-US" sz="942" dirty="0"/>
          </a:p>
        </p:txBody>
      </p:sp>
      <p:sp>
        <p:nvSpPr>
          <p:cNvPr id="17" name="Text 14"/>
          <p:cNvSpPr/>
          <p:nvPr/>
        </p:nvSpPr>
        <p:spPr>
          <a:xfrm>
            <a:off x="714375" y="3029285"/>
            <a:ext cx="3500438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0052CC"/>
                </a:solidFill>
              </a:rPr>
              <a:t>Days 3-5: Strategy Engine</a:t>
            </a:r>
            <a:endParaRPr lang="en-US" sz="683" dirty="0"/>
          </a:p>
        </p:txBody>
      </p:sp>
      <p:sp>
        <p:nvSpPr>
          <p:cNvPr id="18" name="Shape 15"/>
          <p:cNvSpPr/>
          <p:nvPr/>
        </p:nvSpPr>
        <p:spPr>
          <a:xfrm>
            <a:off x="714375" y="3279316"/>
            <a:ext cx="57150" cy="57150"/>
          </a:xfrm>
          <a:prstGeom prst="rect">
            <a:avLst/>
          </a:prstGeom>
          <a:solidFill>
            <a:srgbClr val="0052CC"/>
          </a:solidFill>
          <a:ln/>
        </p:spPr>
      </p:sp>
      <p:sp>
        <p:nvSpPr>
          <p:cNvPr id="19" name="Text 16"/>
          <p:cNvSpPr/>
          <p:nvPr/>
        </p:nvSpPr>
        <p:spPr>
          <a:xfrm>
            <a:off x="714375" y="3222166"/>
            <a:ext cx="3500438" cy="192881"/>
          </a:xfrm>
          <a:prstGeom prst="rect">
            <a:avLst/>
          </a:prstGeom>
          <a:noFill/>
          <a:ln/>
        </p:spPr>
        <p:txBody>
          <a:bodyPr wrap="none" lIns="136017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333840"/>
                </a:solidFill>
              </a:rPr>
              <a:t>实现Donchian Channel + ATR因子</a:t>
            </a:r>
            <a:endParaRPr lang="en-US" sz="942" dirty="0"/>
          </a:p>
        </p:txBody>
      </p:sp>
      <p:sp>
        <p:nvSpPr>
          <p:cNvPr id="20" name="Shape 17"/>
          <p:cNvSpPr/>
          <p:nvPr/>
        </p:nvSpPr>
        <p:spPr>
          <a:xfrm>
            <a:off x="714375" y="3529347"/>
            <a:ext cx="57150" cy="57150"/>
          </a:xfrm>
          <a:prstGeom prst="rect">
            <a:avLst/>
          </a:prstGeom>
          <a:solidFill>
            <a:srgbClr val="0052CC"/>
          </a:solidFill>
          <a:ln/>
        </p:spPr>
      </p:sp>
      <p:sp>
        <p:nvSpPr>
          <p:cNvPr id="21" name="Text 18"/>
          <p:cNvSpPr/>
          <p:nvPr/>
        </p:nvSpPr>
        <p:spPr>
          <a:xfrm>
            <a:off x="714375" y="3472197"/>
            <a:ext cx="3500438" cy="192881"/>
          </a:xfrm>
          <a:prstGeom prst="rect">
            <a:avLst/>
          </a:prstGeom>
          <a:noFill/>
          <a:ln/>
        </p:spPr>
        <p:txBody>
          <a:bodyPr wrap="none" lIns="136017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333840"/>
                </a:solidFill>
              </a:rPr>
              <a:t>开发向量化回测框架</a:t>
            </a:r>
            <a:endParaRPr lang="en-US" sz="942" dirty="0"/>
          </a:p>
        </p:txBody>
      </p:sp>
      <p:sp>
        <p:nvSpPr>
          <p:cNvPr id="22" name="Shape 19"/>
          <p:cNvSpPr/>
          <p:nvPr/>
        </p:nvSpPr>
        <p:spPr>
          <a:xfrm>
            <a:off x="714375" y="3779379"/>
            <a:ext cx="57150" cy="57150"/>
          </a:xfrm>
          <a:prstGeom prst="rect">
            <a:avLst/>
          </a:prstGeom>
          <a:solidFill>
            <a:srgbClr val="0052CC"/>
          </a:solidFill>
          <a:ln/>
        </p:spPr>
      </p:sp>
      <p:sp>
        <p:nvSpPr>
          <p:cNvPr id="23" name="Text 20"/>
          <p:cNvSpPr/>
          <p:nvPr/>
        </p:nvSpPr>
        <p:spPr>
          <a:xfrm>
            <a:off x="714375" y="3722229"/>
            <a:ext cx="3500438" cy="192881"/>
          </a:xfrm>
          <a:prstGeom prst="rect">
            <a:avLst/>
          </a:prstGeom>
          <a:noFill/>
          <a:ln/>
        </p:spPr>
        <p:txBody>
          <a:bodyPr wrap="none" lIns="136017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333840"/>
                </a:solidFill>
              </a:rPr>
              <a:t>参数敏感性分析与定参</a:t>
            </a:r>
            <a:endParaRPr lang="en-US" sz="942" dirty="0"/>
          </a:p>
        </p:txBody>
      </p:sp>
      <p:sp>
        <p:nvSpPr>
          <p:cNvPr id="24" name="Shape 21"/>
          <p:cNvSpPr/>
          <p:nvPr/>
        </p:nvSpPr>
        <p:spPr>
          <a:xfrm>
            <a:off x="4786313" y="1363005"/>
            <a:ext cx="3786188" cy="310005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Shape 22"/>
          <p:cNvSpPr/>
          <p:nvPr/>
        </p:nvSpPr>
        <p:spPr>
          <a:xfrm>
            <a:off x="4786313" y="1363005"/>
            <a:ext cx="3786188" cy="57150"/>
          </a:xfrm>
          <a:prstGeom prst="rect">
            <a:avLst/>
          </a:prstGeom>
          <a:solidFill>
            <a:srgbClr val="1A1D21"/>
          </a:solidFill>
          <a:ln/>
        </p:spPr>
      </p:sp>
      <p:sp>
        <p:nvSpPr>
          <p:cNvPr id="26" name="Text 23"/>
          <p:cNvSpPr/>
          <p:nvPr/>
        </p:nvSpPr>
        <p:spPr>
          <a:xfrm>
            <a:off x="4929188" y="1505880"/>
            <a:ext cx="830712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1A1D21"/>
                </a:solidFill>
              </a:rPr>
              <a:t>Week 02</a:t>
            </a:r>
            <a:endParaRPr lang="en-US" sz="1397" dirty="0"/>
          </a:p>
        </p:txBody>
      </p:sp>
      <p:sp>
        <p:nvSpPr>
          <p:cNvPr id="27" name="Text 24"/>
          <p:cNvSpPr/>
          <p:nvPr/>
        </p:nvSpPr>
        <p:spPr>
          <a:xfrm>
            <a:off x="6957817" y="1614822"/>
            <a:ext cx="1471808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spc="1" kern="0" dirty="0">
                <a:solidFill>
                  <a:srgbClr val="666666"/>
                </a:solidFill>
              </a:rPr>
              <a:t>Execution &amp; Production</a:t>
            </a:r>
            <a:endParaRPr lang="en-US" sz="683" dirty="0"/>
          </a:p>
        </p:txBody>
      </p:sp>
      <p:sp>
        <p:nvSpPr>
          <p:cNvPr id="28" name="Text 25"/>
          <p:cNvSpPr/>
          <p:nvPr/>
        </p:nvSpPr>
        <p:spPr>
          <a:xfrm>
            <a:off x="4929188" y="2014872"/>
            <a:ext cx="3500438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4D4D"/>
                </a:solidFill>
              </a:rPr>
              <a:t>Days 6-8: Execution System</a:t>
            </a:r>
            <a:endParaRPr lang="en-US" sz="683" dirty="0"/>
          </a:p>
        </p:txBody>
      </p:sp>
      <p:sp>
        <p:nvSpPr>
          <p:cNvPr id="29" name="Shape 26"/>
          <p:cNvSpPr/>
          <p:nvPr/>
        </p:nvSpPr>
        <p:spPr>
          <a:xfrm>
            <a:off x="4929188" y="2264904"/>
            <a:ext cx="57150" cy="57150"/>
          </a:xfrm>
          <a:prstGeom prst="rect">
            <a:avLst/>
          </a:prstGeom>
          <a:solidFill>
            <a:srgbClr val="1A1D21"/>
          </a:solidFill>
          <a:ln/>
        </p:spPr>
      </p:sp>
      <p:sp>
        <p:nvSpPr>
          <p:cNvPr id="30" name="Text 27"/>
          <p:cNvSpPr/>
          <p:nvPr/>
        </p:nvSpPr>
        <p:spPr>
          <a:xfrm>
            <a:off x="4929188" y="2207754"/>
            <a:ext cx="3500438" cy="192881"/>
          </a:xfrm>
          <a:prstGeom prst="rect">
            <a:avLst/>
          </a:prstGeom>
          <a:noFill/>
          <a:ln/>
        </p:spPr>
        <p:txBody>
          <a:bodyPr wrap="none" lIns="136017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333840"/>
                </a:solidFill>
              </a:rPr>
              <a:t>开发实盘交易Executor</a:t>
            </a:r>
            <a:endParaRPr lang="en-US" sz="942" dirty="0"/>
          </a:p>
        </p:txBody>
      </p:sp>
      <p:sp>
        <p:nvSpPr>
          <p:cNvPr id="31" name="Shape 28"/>
          <p:cNvSpPr/>
          <p:nvPr/>
        </p:nvSpPr>
        <p:spPr>
          <a:xfrm>
            <a:off x="4929188" y="2514935"/>
            <a:ext cx="57150" cy="57150"/>
          </a:xfrm>
          <a:prstGeom prst="rect">
            <a:avLst/>
          </a:prstGeom>
          <a:solidFill>
            <a:srgbClr val="1A1D21"/>
          </a:solidFill>
          <a:ln/>
        </p:spPr>
      </p:sp>
      <p:sp>
        <p:nvSpPr>
          <p:cNvPr id="32" name="Text 29"/>
          <p:cNvSpPr/>
          <p:nvPr/>
        </p:nvSpPr>
        <p:spPr>
          <a:xfrm>
            <a:off x="4929188" y="2457785"/>
            <a:ext cx="3500438" cy="192881"/>
          </a:xfrm>
          <a:prstGeom prst="rect">
            <a:avLst/>
          </a:prstGeom>
          <a:noFill/>
          <a:ln/>
        </p:spPr>
        <p:txBody>
          <a:bodyPr wrap="none" lIns="136017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333840"/>
                </a:solidFill>
              </a:rPr>
              <a:t>实现风控模块 (Risk Manager)</a:t>
            </a:r>
            <a:endParaRPr lang="en-US" sz="942" dirty="0"/>
          </a:p>
        </p:txBody>
      </p:sp>
      <p:sp>
        <p:nvSpPr>
          <p:cNvPr id="33" name="Shape 30"/>
          <p:cNvSpPr/>
          <p:nvPr/>
        </p:nvSpPr>
        <p:spPr>
          <a:xfrm>
            <a:off x="4929188" y="2764966"/>
            <a:ext cx="57150" cy="57150"/>
          </a:xfrm>
          <a:prstGeom prst="rect">
            <a:avLst/>
          </a:prstGeom>
          <a:solidFill>
            <a:srgbClr val="1A1D21"/>
          </a:solidFill>
          <a:ln/>
        </p:spPr>
      </p:sp>
      <p:sp>
        <p:nvSpPr>
          <p:cNvPr id="34" name="Text 31"/>
          <p:cNvSpPr/>
          <p:nvPr/>
        </p:nvSpPr>
        <p:spPr>
          <a:xfrm>
            <a:off x="4929188" y="2707816"/>
            <a:ext cx="3500438" cy="192881"/>
          </a:xfrm>
          <a:prstGeom prst="rect">
            <a:avLst/>
          </a:prstGeom>
          <a:noFill/>
          <a:ln/>
        </p:spPr>
        <p:txBody>
          <a:bodyPr wrap="none" lIns="136017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333840"/>
                </a:solidFill>
              </a:rPr>
              <a:t>对接钉钉/Telegram报警推送</a:t>
            </a:r>
            <a:endParaRPr lang="en-US" sz="942" dirty="0"/>
          </a:p>
        </p:txBody>
      </p:sp>
      <p:sp>
        <p:nvSpPr>
          <p:cNvPr id="35" name="Text 32"/>
          <p:cNvSpPr/>
          <p:nvPr/>
        </p:nvSpPr>
        <p:spPr>
          <a:xfrm>
            <a:off x="4929188" y="3029285"/>
            <a:ext cx="3500438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4D4D"/>
                </a:solidFill>
              </a:rPr>
              <a:t>Days 9-10: Testing &amp; Go-Live</a:t>
            </a:r>
            <a:endParaRPr lang="en-US" sz="683" dirty="0"/>
          </a:p>
        </p:txBody>
      </p:sp>
      <p:sp>
        <p:nvSpPr>
          <p:cNvPr id="36" name="Shape 33"/>
          <p:cNvSpPr/>
          <p:nvPr/>
        </p:nvSpPr>
        <p:spPr>
          <a:xfrm>
            <a:off x="4929188" y="3279316"/>
            <a:ext cx="57150" cy="57150"/>
          </a:xfrm>
          <a:prstGeom prst="rect">
            <a:avLst/>
          </a:prstGeom>
          <a:solidFill>
            <a:srgbClr val="1A1D21"/>
          </a:solidFill>
          <a:ln/>
        </p:spPr>
      </p:sp>
      <p:sp>
        <p:nvSpPr>
          <p:cNvPr id="37" name="Text 34"/>
          <p:cNvSpPr/>
          <p:nvPr/>
        </p:nvSpPr>
        <p:spPr>
          <a:xfrm>
            <a:off x="4929188" y="3222166"/>
            <a:ext cx="3500438" cy="192881"/>
          </a:xfrm>
          <a:prstGeom prst="rect">
            <a:avLst/>
          </a:prstGeom>
          <a:noFill/>
          <a:ln/>
        </p:spPr>
        <p:txBody>
          <a:bodyPr wrap="none" lIns="136017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333840"/>
                </a:solidFill>
              </a:rPr>
              <a:t>Paper Trading (模拟盘) 运行24h</a:t>
            </a:r>
            <a:endParaRPr lang="en-US" sz="942" dirty="0"/>
          </a:p>
        </p:txBody>
      </p:sp>
      <p:sp>
        <p:nvSpPr>
          <p:cNvPr id="38" name="Shape 35"/>
          <p:cNvSpPr/>
          <p:nvPr/>
        </p:nvSpPr>
        <p:spPr>
          <a:xfrm>
            <a:off x="4929188" y="3529347"/>
            <a:ext cx="57150" cy="57150"/>
          </a:xfrm>
          <a:prstGeom prst="rect">
            <a:avLst/>
          </a:prstGeom>
          <a:solidFill>
            <a:srgbClr val="1A1D21"/>
          </a:solidFill>
          <a:ln/>
        </p:spPr>
      </p:sp>
      <p:sp>
        <p:nvSpPr>
          <p:cNvPr id="39" name="Text 36"/>
          <p:cNvSpPr/>
          <p:nvPr/>
        </p:nvSpPr>
        <p:spPr>
          <a:xfrm>
            <a:off x="4929188" y="3472197"/>
            <a:ext cx="3500438" cy="192881"/>
          </a:xfrm>
          <a:prstGeom prst="rect">
            <a:avLst/>
          </a:prstGeom>
          <a:noFill/>
          <a:ln/>
        </p:spPr>
        <p:txBody>
          <a:bodyPr wrap="none" lIns="136017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333840"/>
                </a:solidFill>
              </a:rPr>
              <a:t>系统压力测试与异常恢复演练</a:t>
            </a:r>
            <a:endParaRPr lang="en-US" sz="942" dirty="0"/>
          </a:p>
        </p:txBody>
      </p:sp>
      <p:sp>
        <p:nvSpPr>
          <p:cNvPr id="40" name="Shape 37"/>
          <p:cNvSpPr/>
          <p:nvPr/>
        </p:nvSpPr>
        <p:spPr>
          <a:xfrm>
            <a:off x="4929188" y="3779379"/>
            <a:ext cx="57150" cy="57150"/>
          </a:xfrm>
          <a:prstGeom prst="rect">
            <a:avLst/>
          </a:prstGeom>
          <a:solidFill>
            <a:srgbClr val="1A1D21"/>
          </a:solidFill>
          <a:ln/>
        </p:spPr>
      </p:sp>
      <p:sp>
        <p:nvSpPr>
          <p:cNvPr id="41" name="Text 38"/>
          <p:cNvSpPr/>
          <p:nvPr/>
        </p:nvSpPr>
        <p:spPr>
          <a:xfrm>
            <a:off x="4929188" y="3722229"/>
            <a:ext cx="3500438" cy="192881"/>
          </a:xfrm>
          <a:prstGeom prst="rect">
            <a:avLst/>
          </a:prstGeom>
          <a:noFill/>
          <a:ln/>
        </p:spPr>
        <p:txBody>
          <a:bodyPr wrap="none" lIns="136017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333840"/>
                </a:solidFill>
              </a:rPr>
              <a:t>v1.0 正式实盘上线</a:t>
            </a:r>
            <a:endParaRPr lang="en-US" sz="885" dirty="0"/>
          </a:p>
        </p:txBody>
      </p:sp>
      <p:sp>
        <p:nvSpPr>
          <p:cNvPr id="42" name="Shape 39"/>
          <p:cNvSpPr/>
          <p:nvPr/>
        </p:nvSpPr>
        <p:spPr>
          <a:xfrm>
            <a:off x="571500" y="4534495"/>
            <a:ext cx="8001000" cy="394692"/>
          </a:xfrm>
          <a:prstGeom prst="rect">
            <a:avLst/>
          </a:prstGeom>
          <a:solidFill>
            <a:srgbClr val="1A1D21"/>
          </a:solidFill>
          <a:ln/>
        </p:spPr>
      </p:sp>
      <p:sp>
        <p:nvSpPr>
          <p:cNvPr id="43" name="Text 40"/>
          <p:cNvSpPr/>
          <p:nvPr/>
        </p:nvSpPr>
        <p:spPr>
          <a:xfrm>
            <a:off x="714375" y="4663976"/>
            <a:ext cx="1149446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spc="1" kern="0" dirty="0">
                <a:solidFill>
                  <a:srgbClr val="888888"/>
                </a:solidFill>
              </a:rPr>
              <a:t>Project Milestone</a:t>
            </a:r>
            <a:endParaRPr lang="en-US" sz="727" dirty="0"/>
          </a:p>
        </p:txBody>
      </p:sp>
      <p:sp>
        <p:nvSpPr>
          <p:cNvPr id="44" name="Text 41"/>
          <p:cNvSpPr/>
          <p:nvPr/>
        </p:nvSpPr>
        <p:spPr>
          <a:xfrm>
            <a:off x="5303369" y="4634508"/>
            <a:ext cx="3126256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0C853"/>
                </a:solidFill>
              </a:rPr>
              <a:t>Target: Automated Trading System v1.0 Live</a:t>
            </a:r>
            <a:endParaRPr lang="en-US" sz="987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428625"/>
            <a:ext cx="8001000" cy="720068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571500" y="428625"/>
            <a:ext cx="42863" cy="720068"/>
          </a:xfrm>
          <a:prstGeom prst="rect">
            <a:avLst/>
          </a:prstGeom>
          <a:solidFill>
            <a:srgbClr val="1A1D21"/>
          </a:solidFill>
          <a:ln/>
        </p:spPr>
      </p:sp>
      <p:sp>
        <p:nvSpPr>
          <p:cNvPr id="5" name="Text 2"/>
          <p:cNvSpPr/>
          <p:nvPr/>
        </p:nvSpPr>
        <p:spPr>
          <a:xfrm>
            <a:off x="785813" y="428625"/>
            <a:ext cx="7786688" cy="7200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121" b="1" dirty="0">
                <a:solidFill>
                  <a:srgbClr val="1A1D21"/>
                </a:solidFill>
              </a:rPr>
              <a:t>v1策略是可落地的第一步，</a:t>
            </a:r>
            <a:pPr algn="l" indent="0" marL="0">
              <a:lnSpc>
                <a:spcPts val="2800"/>
              </a:lnSpc>
              <a:buNone/>
            </a:pPr>
            <a:r>
              <a:rPr lang="en-US" sz="2121" b="1" dirty="0">
                <a:solidFill>
                  <a:srgbClr val="1A1D21"/>
                </a:solidFill>
              </a:rPr>
              <a:t>
</a:t>
            </a:r>
            <a:pPr algn="l" indent="0" marL="0">
              <a:lnSpc>
                <a:spcPts val="2800"/>
              </a:lnSpc>
              <a:buNone/>
            </a:pPr>
            <a:r>
              <a:rPr lang="en-US" sz="2121" b="1" dirty="0">
                <a:solidFill>
                  <a:srgbClr val="1A1D21"/>
                </a:solidFill>
              </a:rPr>
              <a:t>后续可持续迭代</a:t>
            </a:r>
            <a:endParaRPr lang="en-US" sz="2121" dirty="0"/>
          </a:p>
        </p:txBody>
      </p:sp>
      <p:sp>
        <p:nvSpPr>
          <p:cNvPr id="6" name="Shape 3"/>
          <p:cNvSpPr/>
          <p:nvPr/>
        </p:nvSpPr>
        <p:spPr>
          <a:xfrm>
            <a:off x="571500" y="1443372"/>
            <a:ext cx="609451" cy="192881"/>
          </a:xfrm>
          <a:prstGeom prst="rect">
            <a:avLst/>
          </a:prstGeom>
          <a:solidFill>
            <a:srgbClr val="0052CC"/>
          </a:solidFill>
          <a:ln/>
        </p:spPr>
      </p:sp>
      <p:sp>
        <p:nvSpPr>
          <p:cNvPr id="7" name="Text 4"/>
          <p:cNvSpPr/>
          <p:nvPr/>
        </p:nvSpPr>
        <p:spPr>
          <a:xfrm>
            <a:off x="571500" y="1443372"/>
            <a:ext cx="609451" cy="192881"/>
          </a:xfrm>
          <a:prstGeom prst="rect">
            <a:avLst/>
          </a:prstGeom>
          <a:noFill/>
          <a:ln/>
        </p:spPr>
        <p:txBody>
          <a:bodyPr wrap="square" lIns="85090" tIns="34036" rIns="85090" bIns="34036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Current</a:t>
            </a:r>
            <a:endParaRPr lang="en-US" sz="683" dirty="0"/>
          </a:p>
        </p:txBody>
      </p:sp>
      <p:sp>
        <p:nvSpPr>
          <p:cNvPr id="8" name="Text 5"/>
          <p:cNvSpPr/>
          <p:nvPr/>
        </p:nvSpPr>
        <p:spPr>
          <a:xfrm>
            <a:off x="1288107" y="1363005"/>
            <a:ext cx="1598609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1A1D21"/>
                </a:solidFill>
              </a:rPr>
              <a:t>v1.0 Foundation</a:t>
            </a:r>
            <a:endParaRPr lang="en-US" sz="1397" dirty="0"/>
          </a:p>
        </p:txBody>
      </p:sp>
      <p:sp>
        <p:nvSpPr>
          <p:cNvPr id="9" name="Text 6"/>
          <p:cNvSpPr/>
          <p:nvPr/>
        </p:nvSpPr>
        <p:spPr>
          <a:xfrm>
            <a:off x="571500" y="1864854"/>
            <a:ext cx="103277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87" b="1" dirty="0">
                <a:solidFill>
                  <a:srgbClr val="0052CC"/>
                </a:solidFill>
              </a:rPr>
              <a:t>✓</a:t>
            </a:r>
            <a:endParaRPr lang="en-US" sz="987" dirty="0"/>
          </a:p>
        </p:txBody>
      </p:sp>
      <p:sp>
        <p:nvSpPr>
          <p:cNvPr id="10" name="Text 7"/>
          <p:cNvSpPr/>
          <p:nvPr/>
        </p:nvSpPr>
        <p:spPr>
          <a:xfrm>
            <a:off x="714375" y="1866640"/>
            <a:ext cx="1490337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87" b="1" dirty="0">
                <a:solidFill>
                  <a:srgbClr val="333840"/>
                </a:solidFill>
              </a:rPr>
              <a:t>规则驱动 (Rule-based)</a:t>
            </a:r>
            <a:endParaRPr lang="en-US" sz="987" dirty="0"/>
          </a:p>
        </p:txBody>
      </p:sp>
      <p:sp>
        <p:nvSpPr>
          <p:cNvPr id="11" name="Text 8"/>
          <p:cNvSpPr/>
          <p:nvPr/>
        </p:nvSpPr>
        <p:spPr>
          <a:xfrm>
            <a:off x="714375" y="2093454"/>
            <a:ext cx="3496866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666666"/>
                </a:solidFill>
              </a:rPr>
              <a:t>逻辑透明，参数可控，避免过度拟合。</a:t>
            </a:r>
            <a:endParaRPr lang="en-US" sz="834" dirty="0"/>
          </a:p>
        </p:txBody>
      </p:sp>
      <p:sp>
        <p:nvSpPr>
          <p:cNvPr id="12" name="Text 9"/>
          <p:cNvSpPr/>
          <p:nvPr/>
        </p:nvSpPr>
        <p:spPr>
          <a:xfrm>
            <a:off x="571500" y="2360619"/>
            <a:ext cx="103277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87" b="1" dirty="0">
                <a:solidFill>
                  <a:srgbClr val="0052CC"/>
                </a:solidFill>
              </a:rPr>
              <a:t>✓</a:t>
            </a:r>
            <a:endParaRPr lang="en-US" sz="987" dirty="0"/>
          </a:p>
        </p:txBody>
      </p:sp>
      <p:sp>
        <p:nvSpPr>
          <p:cNvPr id="13" name="Text 10"/>
          <p:cNvSpPr/>
          <p:nvPr/>
        </p:nvSpPr>
        <p:spPr>
          <a:xfrm>
            <a:off x="714375" y="2362405"/>
            <a:ext cx="857250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87" b="1" dirty="0">
                <a:solidFill>
                  <a:srgbClr val="333840"/>
                </a:solidFill>
              </a:rPr>
              <a:t>基础设施完备</a:t>
            </a:r>
            <a:endParaRPr lang="en-US" sz="987" dirty="0"/>
          </a:p>
        </p:txBody>
      </p:sp>
      <p:sp>
        <p:nvSpPr>
          <p:cNvPr id="14" name="Text 11"/>
          <p:cNvSpPr/>
          <p:nvPr/>
        </p:nvSpPr>
        <p:spPr>
          <a:xfrm>
            <a:off x="714375" y="2589219"/>
            <a:ext cx="3496866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666666"/>
                </a:solidFill>
              </a:rPr>
              <a:t>完成数据流、风控层、执行层的标准化搭建。</a:t>
            </a:r>
            <a:endParaRPr lang="en-US" sz="834" dirty="0"/>
          </a:p>
        </p:txBody>
      </p:sp>
      <p:sp>
        <p:nvSpPr>
          <p:cNvPr id="15" name="Text 12"/>
          <p:cNvSpPr/>
          <p:nvPr/>
        </p:nvSpPr>
        <p:spPr>
          <a:xfrm>
            <a:off x="571500" y="2856384"/>
            <a:ext cx="103277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87" b="1" dirty="0">
                <a:solidFill>
                  <a:srgbClr val="0052CC"/>
                </a:solidFill>
              </a:rPr>
              <a:t>✓</a:t>
            </a:r>
            <a:endParaRPr lang="en-US" sz="987" dirty="0"/>
          </a:p>
        </p:txBody>
      </p:sp>
      <p:sp>
        <p:nvSpPr>
          <p:cNvPr id="16" name="Text 13"/>
          <p:cNvSpPr/>
          <p:nvPr/>
        </p:nvSpPr>
        <p:spPr>
          <a:xfrm>
            <a:off x="714375" y="2858170"/>
            <a:ext cx="900280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87" b="1" dirty="0">
                <a:solidFill>
                  <a:srgbClr val="333840"/>
                </a:solidFill>
              </a:rPr>
              <a:t>捕捉核心Beta</a:t>
            </a:r>
            <a:endParaRPr lang="en-US" sz="987" dirty="0"/>
          </a:p>
        </p:txBody>
      </p:sp>
      <p:sp>
        <p:nvSpPr>
          <p:cNvPr id="17" name="Text 14"/>
          <p:cNvSpPr/>
          <p:nvPr/>
        </p:nvSpPr>
        <p:spPr>
          <a:xfrm>
            <a:off x="714375" y="3084984"/>
            <a:ext cx="3496866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666666"/>
                </a:solidFill>
              </a:rPr>
              <a:t>专注于捕捉Crypto市场最显著的动量效应。</a:t>
            </a:r>
            <a:endParaRPr lang="en-US" sz="834" dirty="0"/>
          </a:p>
        </p:txBody>
      </p:sp>
      <p:sp>
        <p:nvSpPr>
          <p:cNvPr id="18" name="Shape 15"/>
          <p:cNvSpPr/>
          <p:nvPr/>
        </p:nvSpPr>
        <p:spPr>
          <a:xfrm>
            <a:off x="4932759" y="1443372"/>
            <a:ext cx="528944" cy="192881"/>
          </a:xfrm>
          <a:prstGeom prst="rect">
            <a:avLst/>
          </a:prstGeom>
          <a:solidFill>
            <a:srgbClr val="1A1D21"/>
          </a:solidFill>
          <a:ln/>
        </p:spPr>
      </p:sp>
      <p:sp>
        <p:nvSpPr>
          <p:cNvPr id="19" name="Text 16"/>
          <p:cNvSpPr/>
          <p:nvPr/>
        </p:nvSpPr>
        <p:spPr>
          <a:xfrm>
            <a:off x="4932759" y="1443372"/>
            <a:ext cx="528944" cy="192881"/>
          </a:xfrm>
          <a:prstGeom prst="rect">
            <a:avLst/>
          </a:prstGeom>
          <a:noFill/>
          <a:ln/>
        </p:spPr>
        <p:txBody>
          <a:bodyPr wrap="square" lIns="85090" tIns="34036" rIns="85090" bIns="34036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Future</a:t>
            </a:r>
            <a:endParaRPr lang="en-US" sz="683" dirty="0"/>
          </a:p>
        </p:txBody>
      </p:sp>
      <p:sp>
        <p:nvSpPr>
          <p:cNvPr id="20" name="Text 17"/>
          <p:cNvSpPr/>
          <p:nvPr/>
        </p:nvSpPr>
        <p:spPr>
          <a:xfrm>
            <a:off x="5568860" y="1363005"/>
            <a:ext cx="1396798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1A1D21"/>
                </a:solidFill>
              </a:rPr>
              <a:t>v2.0 Evolution</a:t>
            </a:r>
            <a:endParaRPr lang="en-US" sz="1397" dirty="0"/>
          </a:p>
        </p:txBody>
      </p:sp>
      <p:sp>
        <p:nvSpPr>
          <p:cNvPr id="21" name="Text 18"/>
          <p:cNvSpPr/>
          <p:nvPr/>
        </p:nvSpPr>
        <p:spPr>
          <a:xfrm>
            <a:off x="4932759" y="1864854"/>
            <a:ext cx="14287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87" b="1" dirty="0">
                <a:solidFill>
                  <a:srgbClr val="1A1D21"/>
                </a:solidFill>
              </a:rPr>
              <a:t>→</a:t>
            </a:r>
            <a:endParaRPr lang="en-US" sz="987" dirty="0"/>
          </a:p>
        </p:txBody>
      </p:sp>
      <p:sp>
        <p:nvSpPr>
          <p:cNvPr id="22" name="Text 19"/>
          <p:cNvSpPr/>
          <p:nvPr/>
        </p:nvSpPr>
        <p:spPr>
          <a:xfrm>
            <a:off x="5075634" y="1866640"/>
            <a:ext cx="1725662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87" b="1" dirty="0">
                <a:solidFill>
                  <a:srgbClr val="333840"/>
                </a:solidFill>
              </a:rPr>
              <a:t>多因子融合 (Multi-Factor)</a:t>
            </a:r>
            <a:endParaRPr lang="en-US" sz="987" dirty="0"/>
          </a:p>
        </p:txBody>
      </p:sp>
      <p:sp>
        <p:nvSpPr>
          <p:cNvPr id="23" name="Text 20"/>
          <p:cNvSpPr/>
          <p:nvPr/>
        </p:nvSpPr>
        <p:spPr>
          <a:xfrm>
            <a:off x="5075634" y="2093454"/>
            <a:ext cx="3496866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666666"/>
                </a:solidFill>
              </a:rPr>
              <a:t>引入期限结构(Term Structure)、偏度(Skew)及链上数据因子。</a:t>
            </a:r>
            <a:endParaRPr lang="en-US" sz="834" dirty="0"/>
          </a:p>
        </p:txBody>
      </p:sp>
      <p:sp>
        <p:nvSpPr>
          <p:cNvPr id="24" name="Text 21"/>
          <p:cNvSpPr/>
          <p:nvPr/>
        </p:nvSpPr>
        <p:spPr>
          <a:xfrm>
            <a:off x="4932759" y="2360619"/>
            <a:ext cx="14287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87" b="1" dirty="0">
                <a:solidFill>
                  <a:srgbClr val="1A1D21"/>
                </a:solidFill>
              </a:rPr>
              <a:t>→</a:t>
            </a:r>
            <a:endParaRPr lang="en-US" sz="987" dirty="0"/>
          </a:p>
        </p:txBody>
      </p:sp>
      <p:sp>
        <p:nvSpPr>
          <p:cNvPr id="25" name="Text 22"/>
          <p:cNvSpPr/>
          <p:nvPr/>
        </p:nvSpPr>
        <p:spPr>
          <a:xfrm>
            <a:off x="5075634" y="2362405"/>
            <a:ext cx="857250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87" b="1" dirty="0">
                <a:solidFill>
                  <a:srgbClr val="333840"/>
                </a:solidFill>
              </a:rPr>
              <a:t>机器学习赋能</a:t>
            </a:r>
            <a:endParaRPr lang="en-US" sz="987" dirty="0"/>
          </a:p>
        </p:txBody>
      </p:sp>
      <p:sp>
        <p:nvSpPr>
          <p:cNvPr id="26" name="Text 23"/>
          <p:cNvSpPr/>
          <p:nvPr/>
        </p:nvSpPr>
        <p:spPr>
          <a:xfrm>
            <a:off x="5075634" y="2589219"/>
            <a:ext cx="3496866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666666"/>
                </a:solidFill>
              </a:rPr>
              <a:t>使用LightGBM/LSTM进行动态权重分配和信号过滤。</a:t>
            </a:r>
            <a:endParaRPr lang="en-US" sz="834" dirty="0"/>
          </a:p>
        </p:txBody>
      </p:sp>
      <p:sp>
        <p:nvSpPr>
          <p:cNvPr id="27" name="Text 24"/>
          <p:cNvSpPr/>
          <p:nvPr/>
        </p:nvSpPr>
        <p:spPr>
          <a:xfrm>
            <a:off x="4932759" y="2856384"/>
            <a:ext cx="14287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87" b="1" dirty="0">
                <a:solidFill>
                  <a:srgbClr val="1A1D21"/>
                </a:solidFill>
              </a:rPr>
              <a:t>→</a:t>
            </a:r>
            <a:endParaRPr lang="en-US" sz="987" dirty="0"/>
          </a:p>
        </p:txBody>
      </p:sp>
      <p:sp>
        <p:nvSpPr>
          <p:cNvPr id="28" name="Text 25"/>
          <p:cNvSpPr/>
          <p:nvPr/>
        </p:nvSpPr>
        <p:spPr>
          <a:xfrm>
            <a:off x="5075634" y="2858170"/>
            <a:ext cx="714375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87" b="1" dirty="0">
                <a:solidFill>
                  <a:srgbClr val="333840"/>
                </a:solidFill>
              </a:rPr>
              <a:t>精细化执行</a:t>
            </a:r>
            <a:endParaRPr lang="en-US" sz="987" dirty="0"/>
          </a:p>
        </p:txBody>
      </p:sp>
      <p:sp>
        <p:nvSpPr>
          <p:cNvPr id="29" name="Text 26"/>
          <p:cNvSpPr/>
          <p:nvPr/>
        </p:nvSpPr>
        <p:spPr>
          <a:xfrm>
            <a:off x="5075634" y="3084984"/>
            <a:ext cx="3496866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666666"/>
                </a:solidFill>
              </a:rPr>
              <a:t>开发TWAP/VWAP算法，进一步降低冲击成本。</a:t>
            </a:r>
            <a:endParaRPr lang="en-US" sz="834" dirty="0"/>
          </a:p>
        </p:txBody>
      </p:sp>
      <p:sp>
        <p:nvSpPr>
          <p:cNvPr id="30" name="Shape 27"/>
          <p:cNvSpPr/>
          <p:nvPr/>
        </p:nvSpPr>
        <p:spPr>
          <a:xfrm>
            <a:off x="571500" y="4448770"/>
            <a:ext cx="8001000" cy="480417"/>
          </a:xfrm>
          <a:prstGeom prst="rect">
            <a:avLst/>
          </a:prstGeom>
          <a:solidFill>
            <a:srgbClr val="1A1D21"/>
          </a:solidFill>
          <a:ln/>
        </p:spPr>
      </p:sp>
      <p:sp>
        <p:nvSpPr>
          <p:cNvPr id="31" name="Text 28"/>
          <p:cNvSpPr/>
          <p:nvPr/>
        </p:nvSpPr>
        <p:spPr>
          <a:xfrm>
            <a:off x="857250" y="4591645"/>
            <a:ext cx="3351507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FFFF"/>
                </a:solidFill>
              </a:rPr>
              <a:t>Start with </a:t>
            </a:r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052CC"/>
                </a:solidFill>
              </a:rPr>
              <a:t>Robustness</a:t>
            </a:r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FFFF"/>
                </a:solidFill>
              </a:rPr>
              <a:t>, Scale with </a:t>
            </a:r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052CC"/>
                </a:solidFill>
              </a:rPr>
              <a:t>Intelligence</a:t>
            </a:r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FFFF"/>
                </a:solidFill>
              </a:rPr>
              <a:t>.</a:t>
            </a:r>
            <a:endParaRPr lang="en-US" sz="987" dirty="0"/>
          </a:p>
        </p:txBody>
      </p:sp>
      <p:sp>
        <p:nvSpPr>
          <p:cNvPr id="32" name="Text 29"/>
          <p:cNvSpPr/>
          <p:nvPr/>
        </p:nvSpPr>
        <p:spPr>
          <a:xfrm>
            <a:off x="6698131" y="4621113"/>
            <a:ext cx="1588619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888888"/>
                </a:solidFill>
              </a:rPr>
              <a:t>CRYPTO CTA STRATEGY ROADMAP</a:t>
            </a:r>
            <a:endParaRPr lang="en-US" sz="727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2026-01-21T06:53:24Z</dcterms:created>
  <dcterms:modified xsi:type="dcterms:W3CDTF">2026-01-21T06:53:24Z</dcterms:modified>
</cp:coreProperties>
</file>